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B3D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303520" y="0"/>
            <a:ext cx="3840480" cy="5143500"/>
          </a:xfrm>
          <a:prstGeom prst="rect">
            <a:avLst/>
          </a:prstGeom>
          <a:solidFill>
            <a:srgbClr val="F5EFE6"/>
          </a:solidFill>
          <a:ln w="12700">
            <a:solidFill>
              <a:srgbClr val="F5EFE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120640" y="0"/>
            <a:ext cx="182880" cy="5143500"/>
          </a:xfrm>
          <a:prstGeom prst="rect">
            <a:avLst/>
          </a:prstGeom>
          <a:solidFill>
            <a:srgbClr val="8DAA91"/>
          </a:solidFill>
          <a:ln w="12700">
            <a:solidFill>
              <a:srgbClr val="8DAA9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640080"/>
            <a:ext cx="4572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B8CC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三日月坂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502920" y="1234440"/>
            <a:ext cx="45720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おさんぽ</a:t>
            </a:r>
            <a:endParaRPr lang="en-US" sz="3400" dirty="0"/>
          </a:p>
          <a:p>
            <a:pPr algn="l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テイクアウトデー</a:t>
            </a:r>
            <a:endParaRPr lang="en-US" sz="3400" dirty="0"/>
          </a:p>
        </p:txBody>
      </p:sp>
      <p:sp>
        <p:nvSpPr>
          <p:cNvPr id="6" name="Shape 4"/>
          <p:cNvSpPr/>
          <p:nvPr/>
        </p:nvSpPr>
        <p:spPr>
          <a:xfrm>
            <a:off x="502920" y="3017520"/>
            <a:ext cx="3200400" cy="36576"/>
          </a:xfrm>
          <a:prstGeom prst="rect">
            <a:avLst/>
          </a:prstGeom>
          <a:solidFill>
            <a:srgbClr val="8DAA91"/>
          </a:solidFill>
          <a:ln w="12700">
            <a:solidFill>
              <a:srgbClr val="8DAA9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3154680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C4B5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「いっしょに、のんびりしませんか？」というお誘い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02920" y="434340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B8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企画・提案　2026年5月　ひるね日和 企画チーム</a:t>
            </a:r>
            <a:endParaRPr lang="en-US" sz="1000" dirty="0"/>
          </a:p>
        </p:txBody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60720" y="731520"/>
            <a:ext cx="640080" cy="64008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5440680" y="1463040"/>
            <a:ext cx="33832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4B3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ひだまりの町に、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i="1" dirty="0">
                <a:solidFill>
                  <a:srgbClr val="4B3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やわらかな一日を。</a:t>
            </a:r>
            <a:endParaRPr lang="en-US" sz="1500" dirty="0"/>
          </a:p>
        </p:txBody>
      </p:sp>
      <p:sp>
        <p:nvSpPr>
          <p:cNvPr id="11" name="Shape 8"/>
          <p:cNvSpPr/>
          <p:nvPr/>
        </p:nvSpPr>
        <p:spPr>
          <a:xfrm>
            <a:off x="6217920" y="2651760"/>
            <a:ext cx="1554480" cy="1554480"/>
          </a:xfrm>
          <a:prstGeom prst="ellipse">
            <a:avLst/>
          </a:prstGeom>
          <a:solidFill>
            <a:srgbClr val="B8CCBB"/>
          </a:solidFill>
          <a:ln w="12700">
            <a:solidFill>
              <a:srgbClr val="B8CCBB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217920" y="2926080"/>
            <a:ext cx="1554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000000"/>
                </a:solidFill>
              </a:rPr>
              <a:t>🌿</a:t>
            </a:r>
            <a:endParaRPr lang="en-US" sz="3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EF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4B3D33"/>
          </a:solidFill>
          <a:ln w="12700">
            <a:solidFill>
              <a:srgbClr val="4B3D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11480" y="182880"/>
            <a:ext cx="566928" cy="566928"/>
          </a:xfrm>
          <a:prstGeom prst="ellipse">
            <a:avLst/>
          </a:prstGeom>
          <a:solidFill>
            <a:srgbClr val="8DAA91"/>
          </a:solidFill>
          <a:ln w="12700">
            <a:solidFill>
              <a:srgbClr val="8DAA9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210312"/>
            <a:ext cx="56692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―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1143000" y="182880"/>
            <a:ext cx="7589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目　次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411480" y="1143000"/>
            <a:ext cx="4069080" cy="1005840"/>
          </a:xfrm>
          <a:prstGeom prst="rect">
            <a:avLst/>
          </a:prstGeom>
          <a:solidFill>
            <a:srgbClr val="FFFFFF"/>
          </a:solidFill>
          <a:ln w="6350">
            <a:solidFill>
              <a:srgbClr val="E8DDD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11480" y="1143000"/>
            <a:ext cx="548640" cy="1005840"/>
          </a:xfrm>
          <a:prstGeom prst="rect">
            <a:avLst/>
          </a:prstGeom>
          <a:solidFill>
            <a:srgbClr val="4B3D33"/>
          </a:solidFill>
          <a:ln w="12700">
            <a:solidFill>
              <a:srgbClr val="4B3D3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11480" y="1325880"/>
            <a:ext cx="548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69848" y="1234440"/>
            <a:ext cx="3291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4B3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コンセプト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069848" y="1664208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65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ひだまりの三日月坂を「ふかふか」な時間に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800600" y="1143000"/>
            <a:ext cx="4069080" cy="1005840"/>
          </a:xfrm>
          <a:prstGeom prst="rect">
            <a:avLst/>
          </a:prstGeom>
          <a:solidFill>
            <a:srgbClr val="FFFFFF"/>
          </a:solidFill>
          <a:ln w="6350">
            <a:solidFill>
              <a:srgbClr val="E8DDD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800600" y="1143000"/>
            <a:ext cx="548640" cy="1005840"/>
          </a:xfrm>
          <a:prstGeom prst="rect">
            <a:avLst/>
          </a:prstGeom>
          <a:solidFill>
            <a:srgbClr val="4B3D33"/>
          </a:solidFill>
          <a:ln w="12700">
            <a:solidFill>
              <a:srgbClr val="4B3D3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00600" y="1325880"/>
            <a:ext cx="548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458968" y="1234440"/>
            <a:ext cx="3291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4B3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お会いしたい方々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5458968" y="1664208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65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こんな「お隣さん」に届きますように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11480" y="2404872"/>
            <a:ext cx="4069080" cy="1005840"/>
          </a:xfrm>
          <a:prstGeom prst="rect">
            <a:avLst/>
          </a:prstGeom>
          <a:solidFill>
            <a:srgbClr val="FFFFFF"/>
          </a:solidFill>
          <a:ln w="6350">
            <a:solidFill>
              <a:srgbClr val="E8DDD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11480" y="2404872"/>
            <a:ext cx="548640" cy="1005840"/>
          </a:xfrm>
          <a:prstGeom prst="rect">
            <a:avLst/>
          </a:prstGeom>
          <a:solidFill>
            <a:srgbClr val="4B3D33"/>
          </a:solidFill>
          <a:ln w="12700">
            <a:solidFill>
              <a:srgbClr val="4B3D3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11480" y="2587752"/>
            <a:ext cx="548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069848" y="2496312"/>
            <a:ext cx="3291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4B3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おさんぽのお供（メニュー案）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069848" y="2926080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65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五感で楽しむ、しっぽの味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800600" y="2404872"/>
            <a:ext cx="4069080" cy="1005840"/>
          </a:xfrm>
          <a:prstGeom prst="rect">
            <a:avLst/>
          </a:prstGeom>
          <a:solidFill>
            <a:srgbClr val="FFFFFF"/>
          </a:solidFill>
          <a:ln w="6350">
            <a:solidFill>
              <a:srgbClr val="E8DDD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800600" y="2404872"/>
            <a:ext cx="548640" cy="1005840"/>
          </a:xfrm>
          <a:prstGeom prst="rect">
            <a:avLst/>
          </a:prstGeom>
          <a:solidFill>
            <a:srgbClr val="4B3D33"/>
          </a:solidFill>
          <a:ln w="12700">
            <a:solidFill>
              <a:srgbClr val="4B3D33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800600" y="2587752"/>
            <a:ext cx="548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5458968" y="2496312"/>
            <a:ext cx="3291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4B3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私たちが目指す景色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5458968" y="2926080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65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「三日月坂って、いいな」が生まれる一日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11480" y="3666744"/>
            <a:ext cx="4069080" cy="1005840"/>
          </a:xfrm>
          <a:prstGeom prst="rect">
            <a:avLst/>
          </a:prstGeom>
          <a:solidFill>
            <a:srgbClr val="FFFFFF"/>
          </a:solidFill>
          <a:ln w="6350">
            <a:solidFill>
              <a:srgbClr val="E8DDD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11480" y="3666744"/>
            <a:ext cx="548640" cy="1005840"/>
          </a:xfrm>
          <a:prstGeom prst="rect">
            <a:avLst/>
          </a:prstGeom>
          <a:solidFill>
            <a:srgbClr val="4B3D33"/>
          </a:solidFill>
          <a:ln w="12700">
            <a:solidFill>
              <a:srgbClr val="4B3D33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11480" y="3849624"/>
            <a:ext cx="548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1069848" y="3758184"/>
            <a:ext cx="3291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4B3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ご協力のお願い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1069848" y="4187952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65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「しっぽ」と手を取り合っていただけませんか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4800600" y="3666744"/>
            <a:ext cx="4069080" cy="1005840"/>
          </a:xfrm>
          <a:prstGeom prst="rect">
            <a:avLst/>
          </a:prstGeom>
          <a:solidFill>
            <a:srgbClr val="FFFFFF"/>
          </a:solidFill>
          <a:ln w="6350">
            <a:solidFill>
              <a:srgbClr val="E8DDD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800600" y="3666744"/>
            <a:ext cx="548640" cy="1005840"/>
          </a:xfrm>
          <a:prstGeom prst="rect">
            <a:avLst/>
          </a:prstGeom>
          <a:solidFill>
            <a:srgbClr val="4B3D33"/>
          </a:solidFill>
          <a:ln w="12700">
            <a:solidFill>
              <a:srgbClr val="4B3D33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800600" y="3849624"/>
            <a:ext cx="548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5458968" y="3758184"/>
            <a:ext cx="3291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4B3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大切にしたいこと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5458968" y="4187952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65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もしも、あわててしまったら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EF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4B3D33"/>
          </a:solidFill>
          <a:ln w="12700">
            <a:solidFill>
              <a:srgbClr val="4B3D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11480" y="182880"/>
            <a:ext cx="566928" cy="566928"/>
          </a:xfrm>
          <a:prstGeom prst="ellipse">
            <a:avLst/>
          </a:prstGeom>
          <a:solidFill>
            <a:srgbClr val="8DAA91"/>
          </a:solidFill>
          <a:ln w="12700">
            <a:solidFill>
              <a:srgbClr val="8DAA9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210312"/>
            <a:ext cx="56692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1143000" y="182880"/>
            <a:ext cx="7589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コンセプト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411480" y="1097280"/>
            <a:ext cx="8321040" cy="1051560"/>
          </a:xfrm>
          <a:prstGeom prst="rect">
            <a:avLst/>
          </a:prstGeom>
          <a:solidFill>
            <a:srgbClr val="4B3D33"/>
          </a:solidFill>
          <a:ln w="12700">
            <a:solidFill>
              <a:srgbClr val="4B3D3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188720"/>
            <a:ext cx="8138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ひだまりの三日月坂を、もっと「ふかふか」な時間に。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411480" y="2286000"/>
            <a:ext cx="3931920" cy="2377440"/>
          </a:xfrm>
          <a:prstGeom prst="rect">
            <a:avLst/>
          </a:prstGeom>
          <a:solidFill>
            <a:srgbClr val="FFFFFF"/>
          </a:solidFill>
          <a:ln w="6350">
            <a:solidFill>
              <a:srgbClr val="E8DDD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11480" y="2286000"/>
            <a:ext cx="3931920" cy="402336"/>
          </a:xfrm>
          <a:prstGeom prst="rect">
            <a:avLst/>
          </a:prstGeom>
          <a:solidFill>
            <a:srgbClr val="B8CCBB"/>
          </a:solidFill>
          <a:ln w="12700">
            <a:solidFill>
              <a:srgbClr val="B8CCB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" y="233172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B3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気づいていること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48640" y="2788920"/>
            <a:ext cx="3703320" cy="1691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2C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この町には素敵な景色やお店が、まるで宝探しのように点在しています。でも、ゆっくりと時間を忘れて歩き回るきっかけが、あともう少しだけ足りない気がしています。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800600" y="2286000"/>
            <a:ext cx="3931920" cy="2377440"/>
          </a:xfrm>
          <a:prstGeom prst="rect">
            <a:avLst/>
          </a:prstGeom>
          <a:solidFill>
            <a:srgbClr val="FFFFFF"/>
          </a:solidFill>
          <a:ln w="6350">
            <a:solidFill>
              <a:srgbClr val="E8DDD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800600" y="2286000"/>
            <a:ext cx="3931920" cy="402336"/>
          </a:xfrm>
          <a:prstGeom prst="rect">
            <a:avLst/>
          </a:prstGeom>
          <a:solidFill>
            <a:srgbClr val="8DAA91"/>
          </a:solidFill>
          <a:ln w="12700">
            <a:solidFill>
              <a:srgbClr val="8DAA9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892040" y="233172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わたしたちの想い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892040" y="2788920"/>
            <a:ext cx="3703320" cy="1691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2C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おいしい飲みものと、小さな「おさんぽマップ」を片手に。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2C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町全体を大きなリビングのように、誰もがくつろげる場所に変えていきたいと考えています。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EF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4B3D33"/>
          </a:solidFill>
          <a:ln w="12700">
            <a:solidFill>
              <a:srgbClr val="4B3D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11480" y="182880"/>
            <a:ext cx="566928" cy="566928"/>
          </a:xfrm>
          <a:prstGeom prst="ellipse">
            <a:avLst/>
          </a:prstGeom>
          <a:solidFill>
            <a:srgbClr val="8DAA91"/>
          </a:solidFill>
          <a:ln w="12700">
            <a:solidFill>
              <a:srgbClr val="8DAA9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210312"/>
            <a:ext cx="56692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1143000" y="182880"/>
            <a:ext cx="7589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お会いしたい方々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411480" y="1143000"/>
            <a:ext cx="2606040" cy="3520440"/>
          </a:xfrm>
          <a:prstGeom prst="rect">
            <a:avLst/>
          </a:prstGeom>
          <a:solidFill>
            <a:srgbClr val="FFFFFF"/>
          </a:solidFill>
          <a:ln w="6350">
            <a:solidFill>
              <a:srgbClr val="E8DDD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11480" y="1143000"/>
            <a:ext cx="2606040" cy="960120"/>
          </a:xfrm>
          <a:prstGeom prst="rect">
            <a:avLst/>
          </a:prstGeom>
          <a:solidFill>
            <a:srgbClr val="4B3D33"/>
          </a:solidFill>
          <a:ln w="12700">
            <a:solidFill>
              <a:srgbClr val="4B3D33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325880" y="1261872"/>
            <a:ext cx="749808" cy="749808"/>
          </a:xfrm>
          <a:prstGeom prst="ellipse">
            <a:avLst/>
          </a:prstGeom>
          <a:solidFill>
            <a:srgbClr val="8DAA91"/>
          </a:solidFill>
          <a:ln w="12700">
            <a:solidFill>
              <a:srgbClr val="8DAA91"/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44752" y="1380744"/>
            <a:ext cx="512064" cy="512064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502920" y="2212848"/>
            <a:ext cx="2423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B3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日向ぼっこが似合う方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868680" y="2788920"/>
            <a:ext cx="1691640" cy="36576"/>
          </a:xfrm>
          <a:prstGeom prst="rect">
            <a:avLst/>
          </a:prstGeom>
          <a:solidFill>
            <a:srgbClr val="B8CCBB"/>
          </a:solidFill>
          <a:ln w="12700">
            <a:solidFill>
              <a:srgbClr val="B8CCBB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48640" y="2926080"/>
            <a:ext cx="2331720" cy="1600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C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のんびりと歩く時間を大切にしている方へ。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2C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ゆっくりとした呼吸の合う、お隣さんのような場所でありたいと思っています。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3264408" y="1143000"/>
            <a:ext cx="2606040" cy="3520440"/>
          </a:xfrm>
          <a:prstGeom prst="rect">
            <a:avLst/>
          </a:prstGeom>
          <a:solidFill>
            <a:srgbClr val="FFFFFF"/>
          </a:solidFill>
          <a:ln w="6350">
            <a:solidFill>
              <a:srgbClr val="E8DDD0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3264408" y="1143000"/>
            <a:ext cx="2606040" cy="960120"/>
          </a:xfrm>
          <a:prstGeom prst="rect">
            <a:avLst/>
          </a:prstGeom>
          <a:solidFill>
            <a:srgbClr val="4B3D33"/>
          </a:solidFill>
          <a:ln w="12700">
            <a:solidFill>
              <a:srgbClr val="4B3D33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4178808" y="1261872"/>
            <a:ext cx="749808" cy="749808"/>
          </a:xfrm>
          <a:prstGeom prst="ellipse">
            <a:avLst/>
          </a:prstGeom>
          <a:solidFill>
            <a:srgbClr val="8DAA91"/>
          </a:solidFill>
          <a:ln w="12700">
            <a:solidFill>
              <a:srgbClr val="8DAA91"/>
            </a:solidFill>
            <a:prstDash val="solid"/>
          </a:ln>
        </p:spPr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97680" y="1380744"/>
            <a:ext cx="512064" cy="512064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3355848" y="2212848"/>
            <a:ext cx="2423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B3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いそがしいお父さん・お母さん</a:t>
            </a:r>
            <a:endParaRPr lang="en-US" sz="1300" dirty="0"/>
          </a:p>
        </p:txBody>
      </p:sp>
      <p:sp>
        <p:nvSpPr>
          <p:cNvPr id="18" name="Shape 14"/>
          <p:cNvSpPr/>
          <p:nvPr/>
        </p:nvSpPr>
        <p:spPr>
          <a:xfrm>
            <a:off x="3721608" y="2788920"/>
            <a:ext cx="1691640" cy="36576"/>
          </a:xfrm>
          <a:prstGeom prst="rect">
            <a:avLst/>
          </a:prstGeom>
          <a:solidFill>
            <a:srgbClr val="B8CCBB"/>
          </a:solidFill>
          <a:ln w="12700">
            <a:solidFill>
              <a:srgbClr val="B8CCBB"/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3401568" y="2926080"/>
            <a:ext cx="2331720" cy="1600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C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「たまには、ひとやすみ」が必要な、家族を支えるあなたへ。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2C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少しだけ荷物を下ろしてほしいのです。</a:t>
            </a:r>
            <a:endParaRPr lang="en-US" sz="1100" dirty="0"/>
          </a:p>
        </p:txBody>
      </p:sp>
      <p:sp>
        <p:nvSpPr>
          <p:cNvPr id="20" name="Shape 16"/>
          <p:cNvSpPr/>
          <p:nvPr/>
        </p:nvSpPr>
        <p:spPr>
          <a:xfrm>
            <a:off x="6117336" y="1143000"/>
            <a:ext cx="2606040" cy="3520440"/>
          </a:xfrm>
          <a:prstGeom prst="rect">
            <a:avLst/>
          </a:prstGeom>
          <a:solidFill>
            <a:srgbClr val="FFFFFF"/>
          </a:solidFill>
          <a:ln w="6350">
            <a:solidFill>
              <a:srgbClr val="E8DDD0"/>
            </a:solidFill>
            <a:prstDash val="solid"/>
          </a:ln>
        </p:spPr>
      </p:sp>
      <p:sp>
        <p:nvSpPr>
          <p:cNvPr id="21" name="Shape 17"/>
          <p:cNvSpPr/>
          <p:nvPr/>
        </p:nvSpPr>
        <p:spPr>
          <a:xfrm>
            <a:off x="6117336" y="1143000"/>
            <a:ext cx="2606040" cy="960120"/>
          </a:xfrm>
          <a:prstGeom prst="rect">
            <a:avLst/>
          </a:prstGeom>
          <a:solidFill>
            <a:srgbClr val="4B3D33"/>
          </a:solidFill>
          <a:ln w="12700">
            <a:solidFill>
              <a:srgbClr val="4B3D33"/>
            </a:solidFill>
            <a:prstDash val="solid"/>
          </a:ln>
        </p:spPr>
      </p:sp>
      <p:sp>
        <p:nvSpPr>
          <p:cNvPr id="22" name="Shape 18"/>
          <p:cNvSpPr/>
          <p:nvPr/>
        </p:nvSpPr>
        <p:spPr>
          <a:xfrm>
            <a:off x="7031736" y="1261872"/>
            <a:ext cx="749808" cy="749808"/>
          </a:xfrm>
          <a:prstGeom prst="ellipse">
            <a:avLst/>
          </a:prstGeom>
          <a:solidFill>
            <a:srgbClr val="8DAA91"/>
          </a:solidFill>
          <a:ln w="12700">
            <a:solidFill>
              <a:srgbClr val="8DAA91"/>
            </a:solidFill>
            <a:prstDash val="solid"/>
          </a:ln>
        </p:spPr>
      </p:sp>
      <p:pic>
        <p:nvPicPr>
          <p:cNvPr id="2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50608" y="1380744"/>
            <a:ext cx="512064" cy="512064"/>
          </a:xfrm>
          <a:prstGeom prst="rect">
            <a:avLst/>
          </a:prstGeom>
        </p:spPr>
      </p:pic>
      <p:sp>
        <p:nvSpPr>
          <p:cNvPr id="24" name="Text 19"/>
          <p:cNvSpPr/>
          <p:nvPr/>
        </p:nvSpPr>
        <p:spPr>
          <a:xfrm>
            <a:off x="6208776" y="2212848"/>
            <a:ext cx="2423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B3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好奇心旺盛な学生さん</a:t>
            </a:r>
            <a:endParaRPr lang="en-US" sz="1300" dirty="0"/>
          </a:p>
        </p:txBody>
      </p:sp>
      <p:sp>
        <p:nvSpPr>
          <p:cNvPr id="25" name="Shape 20"/>
          <p:cNvSpPr/>
          <p:nvPr/>
        </p:nvSpPr>
        <p:spPr>
          <a:xfrm>
            <a:off x="6574536" y="2788920"/>
            <a:ext cx="1691640" cy="36576"/>
          </a:xfrm>
          <a:prstGeom prst="rect">
            <a:avLst/>
          </a:prstGeom>
          <a:solidFill>
            <a:srgbClr val="B8CCBB"/>
          </a:solidFill>
          <a:ln w="12700">
            <a:solidFill>
              <a:srgbClr val="B8CCBB"/>
            </a:solidFill>
            <a:prstDash val="solid"/>
          </a:ln>
        </p:spPr>
      </p:sp>
      <p:sp>
        <p:nvSpPr>
          <p:cNvPr id="26" name="Text 21"/>
          <p:cNvSpPr/>
          <p:nvPr/>
        </p:nvSpPr>
        <p:spPr>
          <a:xfrm>
            <a:off x="6254496" y="2926080"/>
            <a:ext cx="2331720" cy="1600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2C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お気に入りの景色を切り取って、思い出に残したい方へ。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2C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この町の隙（スキ）を、いっしょに楽しんでほしいです。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EF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4B3D33"/>
          </a:solidFill>
          <a:ln w="12700">
            <a:solidFill>
              <a:srgbClr val="4B3D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11480" y="182880"/>
            <a:ext cx="566928" cy="566928"/>
          </a:xfrm>
          <a:prstGeom prst="ellipse">
            <a:avLst/>
          </a:prstGeom>
          <a:solidFill>
            <a:srgbClr val="8DAA91"/>
          </a:solidFill>
          <a:ln w="12700">
            <a:solidFill>
              <a:srgbClr val="8DAA9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210312"/>
            <a:ext cx="56692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1143000" y="182880"/>
            <a:ext cx="7589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おさんぽのお供（メニュー案）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457200" y="105156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i="1" dirty="0">
                <a:solidFill>
                  <a:srgbClr val="7A65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五感で楽しむ、しっぽの味。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411480" y="1600200"/>
            <a:ext cx="8321040" cy="1463040"/>
          </a:xfrm>
          <a:prstGeom prst="rect">
            <a:avLst/>
          </a:prstGeom>
          <a:solidFill>
            <a:srgbClr val="FFFFFF"/>
          </a:solidFill>
          <a:ln w="6350">
            <a:solidFill>
              <a:srgbClr val="E8DDD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11480" y="1600200"/>
            <a:ext cx="64008" cy="1463040"/>
          </a:xfrm>
          <a:prstGeom prst="rect">
            <a:avLst/>
          </a:prstGeom>
          <a:solidFill>
            <a:srgbClr val="4B3D33"/>
          </a:solidFill>
          <a:ln w="12700">
            <a:solidFill>
              <a:srgbClr val="4B3D33"/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1764792"/>
            <a:ext cx="566928" cy="566928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325880" y="1691640"/>
            <a:ext cx="7223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4B3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おさんぽ、ぬくぬく。しっぽラテ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1325880" y="2148840"/>
            <a:ext cx="722376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2C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しっぽのぬくもりをカップに詰め込みました。持ち歩きやすい蓋付きで、冬の道端でも指先から温まります。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411480" y="3246120"/>
            <a:ext cx="8321040" cy="1463040"/>
          </a:xfrm>
          <a:prstGeom prst="rect">
            <a:avLst/>
          </a:prstGeom>
          <a:solidFill>
            <a:srgbClr val="FFFFFF"/>
          </a:solidFill>
          <a:ln w="6350">
            <a:solidFill>
              <a:srgbClr val="E8DDD0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411480" y="3246120"/>
            <a:ext cx="64008" cy="1463040"/>
          </a:xfrm>
          <a:prstGeom prst="rect">
            <a:avLst/>
          </a:prstGeom>
          <a:solidFill>
            <a:srgbClr val="8DAA91"/>
          </a:solidFill>
          <a:ln w="12700">
            <a:solidFill>
              <a:srgbClr val="8DAA91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502920" y="3429000"/>
            <a:ext cx="685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🍯</a:t>
            </a:r>
            <a:endParaRPr lang="en-US" sz="2600" dirty="0"/>
          </a:p>
        </p:txBody>
      </p:sp>
      <p:sp>
        <p:nvSpPr>
          <p:cNvPr id="15" name="Text 12"/>
          <p:cNvSpPr/>
          <p:nvPr/>
        </p:nvSpPr>
        <p:spPr>
          <a:xfrm>
            <a:off x="1325880" y="3337560"/>
            <a:ext cx="7223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4B3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ひとくちの幸せ。はちみつパンケーキサンド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1325880" y="3794760"/>
            <a:ext cx="722376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2C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片手で「ぱくっ」と食べられるサイズ。お口の中に、森の甘みと優しさが広がります。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4B3D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4B3D33"/>
          </a:solidFill>
          <a:ln w="12700">
            <a:solidFill>
              <a:srgbClr val="4B3D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11480" y="182880"/>
            <a:ext cx="566928" cy="566928"/>
          </a:xfrm>
          <a:prstGeom prst="ellipse">
            <a:avLst/>
          </a:prstGeom>
          <a:solidFill>
            <a:srgbClr val="8DAA91"/>
          </a:solidFill>
          <a:ln w="12700">
            <a:solidFill>
              <a:srgbClr val="8DAA9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210312"/>
            <a:ext cx="56692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1143000" y="182880"/>
            <a:ext cx="7589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私たちが目指す景色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502920" y="1097280"/>
            <a:ext cx="82296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「三日月坂って、いいな」が、</a:t>
            </a:r>
            <a:endParaRPr lang="en-US" sz="2600" dirty="0"/>
          </a:p>
          <a:p>
            <a:pPr algn="l" indent="0" marL="0">
              <a:buNone/>
            </a:pPr>
            <a:r>
              <a:rPr lang="en-US" sz="2600" b="1" dirty="0">
                <a:solidFill>
                  <a:srgbClr val="F5EF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あちこちで生まれる一日に。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502920" y="2697480"/>
            <a:ext cx="4114800" cy="36576"/>
          </a:xfrm>
          <a:prstGeom prst="rect">
            <a:avLst/>
          </a:prstGeom>
          <a:solidFill>
            <a:srgbClr val="8DAA91"/>
          </a:solidFill>
          <a:ln w="12700">
            <a:solidFill>
              <a:srgbClr val="8DAA9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11480" y="2834640"/>
            <a:ext cx="3931920" cy="1920240"/>
          </a:xfrm>
          <a:prstGeom prst="rect">
            <a:avLst/>
          </a:prstGeom>
          <a:solidFill>
            <a:srgbClr val="3D3028"/>
          </a:solidFill>
          <a:ln w="12700">
            <a:solidFill>
              <a:srgbClr val="3D302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11480" y="2926080"/>
            <a:ext cx="3931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🤝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594360" y="3520440"/>
            <a:ext cx="356616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D6C9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お店の垣根を越えて、みんなで「まあ、いいじゃない」と笑い合える時間を。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800600" y="2834640"/>
            <a:ext cx="3931920" cy="1920240"/>
          </a:xfrm>
          <a:prstGeom prst="rect">
            <a:avLst/>
          </a:prstGeom>
          <a:solidFill>
            <a:srgbClr val="3D3028"/>
          </a:solidFill>
          <a:ln w="12700">
            <a:solidFill>
              <a:srgbClr val="3D302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00600" y="2926080"/>
            <a:ext cx="3931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000000"/>
                </a:solidFill>
              </a:rPr>
              <a:t>🌱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4983480" y="3520440"/>
            <a:ext cx="356616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D6C9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ひとつの店舗が頑張るのではなく、しっぽと手を取り合って、町の「隙（スキ）」を作っていけたら嬉しいです。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EF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4B3D33"/>
          </a:solidFill>
          <a:ln w="12700">
            <a:solidFill>
              <a:srgbClr val="4B3D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11480" y="182880"/>
            <a:ext cx="566928" cy="566928"/>
          </a:xfrm>
          <a:prstGeom prst="ellipse">
            <a:avLst/>
          </a:prstGeom>
          <a:solidFill>
            <a:srgbClr val="8DAA91"/>
          </a:solidFill>
          <a:ln w="12700">
            <a:solidFill>
              <a:srgbClr val="8DAA9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210312"/>
            <a:ext cx="56692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1143000" y="182880"/>
            <a:ext cx="7589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ご協力のお願い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457200" y="10515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i="1" dirty="0">
                <a:solidFill>
                  <a:srgbClr val="7A65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「しっぽ」と手を取り合っていただけませんか。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411480" y="1691640"/>
            <a:ext cx="3931920" cy="3017520"/>
          </a:xfrm>
          <a:prstGeom prst="rect">
            <a:avLst/>
          </a:prstGeom>
          <a:solidFill>
            <a:srgbClr val="FFFFFF"/>
          </a:solidFill>
          <a:ln w="6350">
            <a:solidFill>
              <a:srgbClr val="E8DDD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11480" y="1691640"/>
            <a:ext cx="3931920" cy="1005840"/>
          </a:xfrm>
          <a:prstGeom prst="rect">
            <a:avLst/>
          </a:prstGeom>
          <a:solidFill>
            <a:srgbClr val="4B3D33"/>
          </a:solidFill>
          <a:ln w="12700">
            <a:solidFill>
              <a:srgbClr val="4B3D3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874520" y="1801368"/>
            <a:ext cx="777240" cy="777240"/>
          </a:xfrm>
          <a:prstGeom prst="ellipse">
            <a:avLst/>
          </a:prstGeom>
          <a:solidFill>
            <a:srgbClr val="FFFFFF">
              <a:alpha val="80000"/>
            </a:srgbClr>
          </a:solidFill>
          <a:ln w="6350">
            <a:solidFill>
              <a:srgbClr val="FFFFFF"/>
            </a:solidFill>
            <a:prstDash val="solid"/>
          </a:ln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93392" y="1920240"/>
            <a:ext cx="539496" cy="539496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548640" y="278892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4B3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店頭でのポスター掲示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594360" y="3337560"/>
            <a:ext cx="35661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2C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おさんぽの目印として、ポスターの掲示をお願いします。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2C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来てくださる方が「あ、ここにも仲間がいる」と感じられる目印になります。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4754880" y="1691640"/>
            <a:ext cx="3931920" cy="3017520"/>
          </a:xfrm>
          <a:prstGeom prst="rect">
            <a:avLst/>
          </a:prstGeom>
          <a:solidFill>
            <a:srgbClr val="FFFFFF"/>
          </a:solidFill>
          <a:ln w="6350">
            <a:solidFill>
              <a:srgbClr val="E8DDD0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4754880" y="1691640"/>
            <a:ext cx="3931920" cy="1005840"/>
          </a:xfrm>
          <a:prstGeom prst="rect">
            <a:avLst/>
          </a:prstGeom>
          <a:solidFill>
            <a:srgbClr val="8DAA91"/>
          </a:solidFill>
          <a:ln w="12700">
            <a:solidFill>
              <a:srgbClr val="8DAA91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6217920" y="1801368"/>
            <a:ext cx="777240" cy="777240"/>
          </a:xfrm>
          <a:prstGeom prst="ellipse">
            <a:avLst/>
          </a:prstGeom>
          <a:solidFill>
            <a:srgbClr val="FFFFFF">
              <a:alpha val="80000"/>
            </a:srgbClr>
          </a:solidFill>
          <a:ln w="6350">
            <a:solidFill>
              <a:srgbClr val="FFFFFF"/>
            </a:solidFill>
            <a:prstDash val="solid"/>
          </a:ln>
        </p:spPr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36792" y="1920240"/>
            <a:ext cx="539496" cy="539496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4892040" y="278892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8DAA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おさんぽマップへの掲載許可</a:t>
            </a:r>
            <a:endParaRPr lang="en-US" sz="1500" dirty="0"/>
          </a:p>
        </p:txBody>
      </p:sp>
      <p:sp>
        <p:nvSpPr>
          <p:cNvPr id="18" name="Text 14"/>
          <p:cNvSpPr/>
          <p:nvPr/>
        </p:nvSpPr>
        <p:spPr>
          <a:xfrm>
            <a:off x="4937760" y="3337560"/>
            <a:ext cx="35661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2C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あなたの素敵なお店を、マップで紹介させてください。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2C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歩いていると出会える「宝もの」として、ご紹介できたら嬉しいです。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EF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4B3D33"/>
          </a:solidFill>
          <a:ln w="12700">
            <a:solidFill>
              <a:srgbClr val="4B3D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11480" y="182880"/>
            <a:ext cx="566928" cy="566928"/>
          </a:xfrm>
          <a:prstGeom prst="ellipse">
            <a:avLst/>
          </a:prstGeom>
          <a:solidFill>
            <a:srgbClr val="8DAA91"/>
          </a:solidFill>
          <a:ln w="12700">
            <a:solidFill>
              <a:srgbClr val="8DAA9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210312"/>
            <a:ext cx="56692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1143000" y="182880"/>
            <a:ext cx="7589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大切にしたいこと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457200" y="105156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7A65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もしも、一生懸命すぎて、あわててしまったら。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02920" y="1554480"/>
            <a:ext cx="8138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2C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私たちは、時々あわてんぼうかもしれません。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11480" y="2148840"/>
            <a:ext cx="8321040" cy="1051560"/>
          </a:xfrm>
          <a:prstGeom prst="rect">
            <a:avLst/>
          </a:prstGeom>
          <a:solidFill>
            <a:srgbClr val="FFFFFF"/>
          </a:solidFill>
          <a:ln w="6350">
            <a:solidFill>
              <a:srgbClr val="E8DDD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2350008"/>
            <a:ext cx="685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😊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1325880" y="2258568"/>
            <a:ext cx="7223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4B3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お待たせしてしまったら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325880" y="2670048"/>
            <a:ext cx="7223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2C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笑顔で「ごめんなさい」を伝え、楽しい掲示物で和んでもらいます。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11480" y="3447288"/>
            <a:ext cx="8321040" cy="1051560"/>
          </a:xfrm>
          <a:prstGeom prst="rect">
            <a:avLst/>
          </a:prstGeom>
          <a:solidFill>
            <a:srgbClr val="FFFFFF"/>
          </a:solidFill>
          <a:ln w="6350">
            <a:solidFill>
              <a:srgbClr val="E8DDD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02920" y="3648456"/>
            <a:ext cx="685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🌿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1325880" y="3557016"/>
            <a:ext cx="7223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4B3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品切れになったら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325880" y="3968496"/>
            <a:ext cx="7223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2C24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また次の「お楽しみ」を約束します。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11480" y="3931920"/>
            <a:ext cx="8321040" cy="914400"/>
          </a:xfrm>
          <a:prstGeom prst="rect">
            <a:avLst/>
          </a:prstGeom>
          <a:solidFill>
            <a:srgbClr val="4B3D33"/>
          </a:solidFill>
          <a:ln w="12700">
            <a:solidFill>
              <a:srgbClr val="4B3D3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94360" y="3995928"/>
            <a:ext cx="7955280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5EF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「完璧」じゃないからこそ、愛おしい一日を。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5EF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いっしょに、この町に温かな灯をともしましょう。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4B3D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3D3028"/>
          </a:solidFill>
          <a:ln w="12700">
            <a:solidFill>
              <a:srgbClr val="3D302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確認事項・ネクストアクション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11480" y="1143000"/>
            <a:ext cx="8321040" cy="749808"/>
          </a:xfrm>
          <a:prstGeom prst="rect">
            <a:avLst/>
          </a:prstGeom>
          <a:solidFill>
            <a:srgbClr val="3D3028"/>
          </a:solidFill>
          <a:ln w="12700">
            <a:solidFill>
              <a:srgbClr val="3D302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234440"/>
            <a:ext cx="566928" cy="566928"/>
          </a:xfrm>
          <a:prstGeom prst="ellipse">
            <a:avLst/>
          </a:prstGeom>
          <a:solidFill>
            <a:srgbClr val="8DAA91"/>
          </a:solidFill>
          <a:ln w="12700">
            <a:solidFill>
              <a:srgbClr val="8DAA9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271016"/>
            <a:ext cx="56692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170432" y="1216152"/>
            <a:ext cx="5029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5EF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方針のご確認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170432" y="1563624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C4B5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コンセプト・ターゲット・メニュー案についてご意見をいただけますか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492240" y="1298448"/>
            <a:ext cx="2011680" cy="438912"/>
          </a:xfrm>
          <a:prstGeom prst="rect">
            <a:avLst/>
          </a:prstGeom>
          <a:solidFill>
            <a:srgbClr val="8DAA91"/>
          </a:solidFill>
          <a:ln w="12700">
            <a:solidFill>
              <a:srgbClr val="8DAA9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92240" y="1344168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今週中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11480" y="2057400"/>
            <a:ext cx="8321040" cy="749808"/>
          </a:xfrm>
          <a:prstGeom prst="rect">
            <a:avLst/>
          </a:prstGeom>
          <a:solidFill>
            <a:srgbClr val="3D3028"/>
          </a:solidFill>
          <a:ln w="12700">
            <a:solidFill>
              <a:srgbClr val="3D302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57200" y="2148840"/>
            <a:ext cx="566928" cy="566928"/>
          </a:xfrm>
          <a:prstGeom prst="ellipse">
            <a:avLst/>
          </a:prstGeom>
          <a:solidFill>
            <a:srgbClr val="8DAA91"/>
          </a:solidFill>
          <a:ln w="12700">
            <a:solidFill>
              <a:srgbClr val="8DAA9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2185416"/>
            <a:ext cx="56692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1170432" y="2130552"/>
            <a:ext cx="5029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5EF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協力店舗への声かけ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170432" y="2478024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C4B5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おさんぽマップ掲載・ポスター掲示のご相談を開始します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492240" y="2212848"/>
            <a:ext cx="2011680" cy="438912"/>
          </a:xfrm>
          <a:prstGeom prst="rect">
            <a:avLst/>
          </a:prstGeom>
          <a:solidFill>
            <a:srgbClr val="8DAA91"/>
          </a:solidFill>
          <a:ln w="12700">
            <a:solidFill>
              <a:srgbClr val="8DAA9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92240" y="2258568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来週〜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11480" y="2971800"/>
            <a:ext cx="8321040" cy="749808"/>
          </a:xfrm>
          <a:prstGeom prst="rect">
            <a:avLst/>
          </a:prstGeom>
          <a:solidFill>
            <a:srgbClr val="3D3028"/>
          </a:solidFill>
          <a:ln w="12700">
            <a:solidFill>
              <a:srgbClr val="3D3028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57200" y="3063240"/>
            <a:ext cx="566928" cy="566928"/>
          </a:xfrm>
          <a:prstGeom prst="ellipse">
            <a:avLst/>
          </a:prstGeom>
          <a:solidFill>
            <a:srgbClr val="8DAA91"/>
          </a:solidFill>
          <a:ln w="12700">
            <a:solidFill>
              <a:srgbClr val="8DAA9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7200" y="3099816"/>
            <a:ext cx="56692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1170432" y="3044952"/>
            <a:ext cx="5029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5EF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制作物の準備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170432" y="3392424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C4B5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マップ・ポスターのデザイン案を作成します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92240" y="3127248"/>
            <a:ext cx="2011680" cy="438912"/>
          </a:xfrm>
          <a:prstGeom prst="rect">
            <a:avLst/>
          </a:prstGeom>
          <a:solidFill>
            <a:srgbClr val="8DAA91"/>
          </a:solidFill>
          <a:ln w="12700">
            <a:solidFill>
              <a:srgbClr val="8DAA9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492240" y="3172968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2週間後〜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411480" y="3886200"/>
            <a:ext cx="8321040" cy="749808"/>
          </a:xfrm>
          <a:prstGeom prst="rect">
            <a:avLst/>
          </a:prstGeom>
          <a:solidFill>
            <a:srgbClr val="3D3028"/>
          </a:solidFill>
          <a:ln w="12700">
            <a:solidFill>
              <a:srgbClr val="3D3028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57200" y="3977640"/>
            <a:ext cx="566928" cy="566928"/>
          </a:xfrm>
          <a:prstGeom prst="ellipse">
            <a:avLst/>
          </a:prstGeom>
          <a:solidFill>
            <a:srgbClr val="8DAA91"/>
          </a:solidFill>
          <a:ln w="12700">
            <a:solidFill>
              <a:srgbClr val="8DAA9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57200" y="4014216"/>
            <a:ext cx="56692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1170432" y="3959352"/>
            <a:ext cx="5029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5EF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イベント当日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1170432" y="4306824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C4B5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三日月坂に、ふかふかな一日をつくります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6492240" y="4041648"/>
            <a:ext cx="2011680" cy="438912"/>
          </a:xfrm>
          <a:prstGeom prst="rect">
            <a:avLst/>
          </a:prstGeom>
          <a:solidFill>
            <a:srgbClr val="8DAA91"/>
          </a:solidFill>
          <a:ln w="12700">
            <a:solidFill>
              <a:srgbClr val="8DAA91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492240" y="4087368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日程調整中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B8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ご不明な点や、ご提案などがあればぜひ声をかけてください 🌿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三日月坂おさんぽテイクアウトデー</dc:title>
  <dc:subject>PptxGenJS Presentation</dc:subject>
  <dc:creator>PptxGenJS</dc:creator>
  <cp:lastModifiedBy>PptxGenJS</cp:lastModifiedBy>
  <cp:revision>1</cp:revision>
  <dcterms:created xsi:type="dcterms:W3CDTF">2026-05-03T17:54:59Z</dcterms:created>
  <dcterms:modified xsi:type="dcterms:W3CDTF">2026-05-03T17:54:59Z</dcterms:modified>
</cp:coreProperties>
</file>