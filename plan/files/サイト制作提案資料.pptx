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2E86AB"/>
          </a:solidFill>
          <a:ln w="12700">
            <a:solidFill>
              <a:srgbClr val="2E86AB"/>
            </a:solidFill>
            <a:prstDash val="solid"/>
          </a:ln>
        </p:spPr>
      </p:sp>
      <p:sp>
        <p:nvSpPr>
          <p:cNvPr id="3" name="Text 1"/>
          <p:cNvSpPr/>
          <p:nvPr/>
        </p:nvSpPr>
        <p:spPr>
          <a:xfrm>
            <a:off x="548640" y="1097280"/>
            <a:ext cx="8412480" cy="640080"/>
          </a:xfrm>
          <a:prstGeom prst="rect">
            <a:avLst/>
          </a:prstGeom>
          <a:noFill/>
          <a:ln/>
        </p:spPr>
        <p:txBody>
          <a:bodyPr wrap="square" lIns="0" tIns="0" rIns="0" bIns="0" rtlCol="0" anchor="ctr"/>
          <a:lstStyle/>
          <a:p>
            <a:pPr algn="l" indent="0" marL="0">
              <a:buNone/>
            </a:pPr>
            <a:r>
              <a:rPr lang="en-US" sz="3600" b="1" dirty="0">
                <a:solidFill>
                  <a:srgbClr val="FFFFFF"/>
                </a:solidFill>
                <a:latin typeface="Calibri" pitchFamily="34" charset="0"/>
                <a:ea typeface="Calibri" pitchFamily="34" charset="-122"/>
                <a:cs typeface="Calibri" pitchFamily="34" charset="-120"/>
              </a:rPr>
              <a:t>しっぽカフェ ひるね日和</a:t>
            </a:r>
            <a:endParaRPr lang="en-US" sz="3600" dirty="0"/>
          </a:p>
        </p:txBody>
      </p:sp>
      <p:sp>
        <p:nvSpPr>
          <p:cNvPr id="4" name="Text 2"/>
          <p:cNvSpPr/>
          <p:nvPr/>
        </p:nvSpPr>
        <p:spPr>
          <a:xfrm>
            <a:off x="548640" y="1783080"/>
            <a:ext cx="8412480" cy="502920"/>
          </a:xfrm>
          <a:prstGeom prst="rect">
            <a:avLst/>
          </a:prstGeom>
          <a:noFill/>
          <a:ln/>
        </p:spPr>
        <p:txBody>
          <a:bodyPr wrap="square" lIns="0" tIns="0" rIns="0" bIns="0" rtlCol="0" anchor="ctr"/>
          <a:lstStyle/>
          <a:p>
            <a:pPr algn="l" indent="0" marL="0">
              <a:buNone/>
            </a:pPr>
            <a:r>
              <a:rPr lang="en-US" sz="2600" dirty="0">
                <a:solidFill>
                  <a:srgbClr val="A8C4D8"/>
                </a:solidFill>
                <a:latin typeface="Calibri" pitchFamily="34" charset="0"/>
                <a:ea typeface="Calibri" pitchFamily="34" charset="-122"/>
                <a:cs typeface="Calibri" pitchFamily="34" charset="-120"/>
              </a:rPr>
              <a:t>Web サイト ご提案</a:t>
            </a:r>
            <a:endParaRPr lang="en-US" sz="2600" dirty="0"/>
          </a:p>
        </p:txBody>
      </p:sp>
      <p:sp>
        <p:nvSpPr>
          <p:cNvPr id="5" name="Shape 3"/>
          <p:cNvSpPr/>
          <p:nvPr/>
        </p:nvSpPr>
        <p:spPr>
          <a:xfrm>
            <a:off x="548640" y="2514600"/>
            <a:ext cx="7772400" cy="27432"/>
          </a:xfrm>
          <a:prstGeom prst="rect">
            <a:avLst/>
          </a:prstGeom>
          <a:solidFill>
            <a:srgbClr val="2E86AB"/>
          </a:solidFill>
          <a:ln w="12700">
            <a:solidFill>
              <a:srgbClr val="2E86AB"/>
            </a:solidFill>
            <a:prstDash val="solid"/>
          </a:ln>
        </p:spPr>
      </p:sp>
      <p:sp>
        <p:nvSpPr>
          <p:cNvPr id="6" name="Text 4"/>
          <p:cNvSpPr/>
          <p:nvPr/>
        </p:nvSpPr>
        <p:spPr>
          <a:xfrm>
            <a:off x="548640" y="2651760"/>
            <a:ext cx="8412480" cy="411480"/>
          </a:xfrm>
          <a:prstGeom prst="rect">
            <a:avLst/>
          </a:prstGeom>
          <a:noFill/>
          <a:ln/>
        </p:spPr>
        <p:txBody>
          <a:bodyPr wrap="square" lIns="0" tIns="0" rIns="0" bIns="0" rtlCol="0" anchor="ctr"/>
          <a:lstStyle/>
          <a:p>
            <a:pPr algn="l" indent="0" marL="0">
              <a:buNone/>
            </a:pPr>
            <a:r>
              <a:rPr lang="en-US" sz="1500" i="1" dirty="0">
                <a:solidFill>
                  <a:srgbClr val="C8DCE8"/>
                </a:solidFill>
                <a:latin typeface="Calibri" pitchFamily="34" charset="0"/>
                <a:ea typeface="Calibri" pitchFamily="34" charset="-122"/>
                <a:cs typeface="Calibri" pitchFamily="34" charset="-120"/>
              </a:rPr>
              <a:t>不揃いな日常を、愛おしく包む。</a:t>
            </a:r>
            <a:endParaRPr lang="en-US" sz="1500" dirty="0"/>
          </a:p>
        </p:txBody>
      </p:sp>
      <p:sp>
        <p:nvSpPr>
          <p:cNvPr id="7" name="Text 5"/>
          <p:cNvSpPr/>
          <p:nvPr/>
        </p:nvSpPr>
        <p:spPr>
          <a:xfrm>
            <a:off x="548640" y="3063240"/>
            <a:ext cx="8412480" cy="365760"/>
          </a:xfrm>
          <a:prstGeom prst="rect">
            <a:avLst/>
          </a:prstGeom>
          <a:noFill/>
          <a:ln/>
        </p:spPr>
        <p:txBody>
          <a:bodyPr wrap="square" lIns="0" tIns="0" rIns="0" bIns="0" rtlCol="0" anchor="ctr"/>
          <a:lstStyle/>
          <a:p>
            <a:pPr algn="l" indent="0" marL="0">
              <a:buNone/>
            </a:pPr>
            <a:r>
              <a:rPr lang="en-US" sz="1300" dirty="0">
                <a:solidFill>
                  <a:srgbClr val="A8C4D8"/>
                </a:solidFill>
                <a:latin typeface="Calibri" pitchFamily="34" charset="0"/>
                <a:ea typeface="Calibri" pitchFamily="34" charset="-122"/>
                <a:cs typeface="Calibri" pitchFamily="34" charset="-120"/>
              </a:rPr>
              <a:t>ブランドの世界観を伝えながら、来店したくなる導線を設計するサイトへ。</a:t>
            </a:r>
            <a:endParaRPr lang="en-US" sz="1300" dirty="0"/>
          </a:p>
        </p:txBody>
      </p:sp>
      <p:sp>
        <p:nvSpPr>
          <p:cNvPr id="8" name="Text 6"/>
          <p:cNvSpPr/>
          <p:nvPr/>
        </p:nvSpPr>
        <p:spPr>
          <a:xfrm>
            <a:off x="548640" y="4389120"/>
            <a:ext cx="8229600" cy="320040"/>
          </a:xfrm>
          <a:prstGeom prst="rect">
            <a:avLst/>
          </a:prstGeom>
          <a:noFill/>
          <a:ln/>
        </p:spPr>
        <p:txBody>
          <a:bodyPr wrap="square" lIns="0" tIns="0" rIns="0" bIns="0" rtlCol="0" anchor="ctr"/>
          <a:lstStyle/>
          <a:p>
            <a:pPr algn="l" indent="0" marL="0">
              <a:buNone/>
            </a:pPr>
            <a:r>
              <a:rPr lang="en-US" sz="1100" dirty="0">
                <a:solidFill>
                  <a:srgbClr val="6A9DB8"/>
                </a:solidFill>
                <a:latin typeface="Calibri" pitchFamily="34" charset="0"/>
                <a:ea typeface="Calibri" pitchFamily="34" charset="-122"/>
                <a:cs typeface="Calibri" pitchFamily="34" charset="-120"/>
              </a:rPr>
              <a:t>2026年5月　Web制作チーム</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algn="l" indent="0" marL="0">
              <a:buNone/>
            </a:pPr>
            <a:r>
              <a:rPr lang="en-US" sz="2800" b="1" dirty="0">
                <a:solidFill>
                  <a:srgbClr val="1E3A5F"/>
                </a:solidFill>
                <a:latin typeface="Calibri" pitchFamily="34" charset="0"/>
                <a:ea typeface="Calibri" pitchFamily="34" charset="-122"/>
                <a:cs typeface="Calibri" pitchFamily="34" charset="-120"/>
              </a:rPr>
              <a:t>目　次</a:t>
            </a:r>
            <a:endParaRPr lang="en-US" sz="2800" dirty="0"/>
          </a:p>
        </p:txBody>
      </p:sp>
      <p:sp>
        <p:nvSpPr>
          <p:cNvPr id="3" name="Shape 1"/>
          <p:cNvSpPr/>
          <p:nvPr/>
        </p:nvSpPr>
        <p:spPr>
          <a:xfrm>
            <a:off x="457200" y="1097280"/>
            <a:ext cx="4114800" cy="658368"/>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4" name="Shape 2"/>
          <p:cNvSpPr/>
          <p:nvPr/>
        </p:nvSpPr>
        <p:spPr>
          <a:xfrm>
            <a:off x="457200" y="1097280"/>
            <a:ext cx="502920" cy="658368"/>
          </a:xfrm>
          <a:prstGeom prst="rect">
            <a:avLst/>
          </a:prstGeom>
          <a:solidFill>
            <a:srgbClr val="1E3A5F"/>
          </a:solidFill>
          <a:ln w="12700">
            <a:solidFill>
              <a:srgbClr val="1E3A5F"/>
            </a:solidFill>
            <a:prstDash val="solid"/>
          </a:ln>
        </p:spPr>
      </p:sp>
      <p:sp>
        <p:nvSpPr>
          <p:cNvPr id="5" name="Text 3"/>
          <p:cNvSpPr/>
          <p:nvPr/>
        </p:nvSpPr>
        <p:spPr>
          <a:xfrm>
            <a:off x="457200" y="1207008"/>
            <a:ext cx="50292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6" name="Text 4"/>
          <p:cNvSpPr/>
          <p:nvPr/>
        </p:nvSpPr>
        <p:spPr>
          <a:xfrm>
            <a:off x="1051560" y="1252728"/>
            <a:ext cx="3383280" cy="347472"/>
          </a:xfrm>
          <a:prstGeom prst="rect">
            <a:avLst/>
          </a:prstGeom>
          <a:noFill/>
          <a:ln/>
        </p:spPr>
        <p:txBody>
          <a:bodyPr wrap="square" lIns="0" tIns="0" rIns="0" bIns="0" rtlCol="0" anchor="ctr"/>
          <a:lstStyle/>
          <a:p>
            <a:pPr algn="l" indent="0" marL="0">
              <a:buNone/>
            </a:pPr>
            <a:r>
              <a:rPr lang="en-US" sz="1300" dirty="0">
                <a:solidFill>
                  <a:srgbClr val="1A1A1A"/>
                </a:solidFill>
                <a:latin typeface="Calibri" pitchFamily="34" charset="0"/>
                <a:ea typeface="Calibri" pitchFamily="34" charset="-122"/>
                <a:cs typeface="Calibri" pitchFamily="34" charset="-120"/>
              </a:rPr>
              <a:t>提案サマリー</a:t>
            </a:r>
            <a:endParaRPr lang="en-US" sz="1300" dirty="0"/>
          </a:p>
        </p:txBody>
      </p:sp>
      <p:sp>
        <p:nvSpPr>
          <p:cNvPr id="7" name="Shape 5"/>
          <p:cNvSpPr/>
          <p:nvPr/>
        </p:nvSpPr>
        <p:spPr>
          <a:xfrm>
            <a:off x="457200" y="1965960"/>
            <a:ext cx="4114800" cy="658368"/>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8" name="Shape 6"/>
          <p:cNvSpPr/>
          <p:nvPr/>
        </p:nvSpPr>
        <p:spPr>
          <a:xfrm>
            <a:off x="457200" y="1965960"/>
            <a:ext cx="502920" cy="658368"/>
          </a:xfrm>
          <a:prstGeom prst="rect">
            <a:avLst/>
          </a:prstGeom>
          <a:solidFill>
            <a:srgbClr val="1E3A5F"/>
          </a:solidFill>
          <a:ln w="12700">
            <a:solidFill>
              <a:srgbClr val="1E3A5F"/>
            </a:solidFill>
            <a:prstDash val="solid"/>
          </a:ln>
        </p:spPr>
      </p:sp>
      <p:sp>
        <p:nvSpPr>
          <p:cNvPr id="9" name="Text 7"/>
          <p:cNvSpPr/>
          <p:nvPr/>
        </p:nvSpPr>
        <p:spPr>
          <a:xfrm>
            <a:off x="457200" y="2075688"/>
            <a:ext cx="50292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0" name="Text 8"/>
          <p:cNvSpPr/>
          <p:nvPr/>
        </p:nvSpPr>
        <p:spPr>
          <a:xfrm>
            <a:off x="1051560" y="2121408"/>
            <a:ext cx="3383280" cy="347472"/>
          </a:xfrm>
          <a:prstGeom prst="rect">
            <a:avLst/>
          </a:prstGeom>
          <a:noFill/>
          <a:ln/>
        </p:spPr>
        <p:txBody>
          <a:bodyPr wrap="square" lIns="0" tIns="0" rIns="0" bIns="0" rtlCol="0" anchor="ctr"/>
          <a:lstStyle/>
          <a:p>
            <a:pPr algn="l" indent="0" marL="0">
              <a:buNone/>
            </a:pPr>
            <a:r>
              <a:rPr lang="en-US" sz="1300" dirty="0">
                <a:solidFill>
                  <a:srgbClr val="1A1A1A"/>
                </a:solidFill>
                <a:latin typeface="Calibri" pitchFamily="34" charset="0"/>
                <a:ea typeface="Calibri" pitchFamily="34" charset="-122"/>
                <a:cs typeface="Calibri" pitchFamily="34" charset="-120"/>
              </a:rPr>
              <a:t>ブランド理解 &amp; ターゲット</a:t>
            </a:r>
            <a:endParaRPr lang="en-US" sz="1300" dirty="0"/>
          </a:p>
        </p:txBody>
      </p:sp>
      <p:sp>
        <p:nvSpPr>
          <p:cNvPr id="11" name="Shape 9"/>
          <p:cNvSpPr/>
          <p:nvPr/>
        </p:nvSpPr>
        <p:spPr>
          <a:xfrm>
            <a:off x="457200" y="2834640"/>
            <a:ext cx="4114800" cy="658368"/>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12" name="Shape 10"/>
          <p:cNvSpPr/>
          <p:nvPr/>
        </p:nvSpPr>
        <p:spPr>
          <a:xfrm>
            <a:off x="457200" y="2834640"/>
            <a:ext cx="502920" cy="658368"/>
          </a:xfrm>
          <a:prstGeom prst="rect">
            <a:avLst/>
          </a:prstGeom>
          <a:solidFill>
            <a:srgbClr val="1E3A5F"/>
          </a:solidFill>
          <a:ln w="12700">
            <a:solidFill>
              <a:srgbClr val="1E3A5F"/>
            </a:solidFill>
            <a:prstDash val="solid"/>
          </a:ln>
        </p:spPr>
      </p:sp>
      <p:sp>
        <p:nvSpPr>
          <p:cNvPr id="13" name="Text 11"/>
          <p:cNvSpPr/>
          <p:nvPr/>
        </p:nvSpPr>
        <p:spPr>
          <a:xfrm>
            <a:off x="457200" y="2944368"/>
            <a:ext cx="50292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4" name="Text 12"/>
          <p:cNvSpPr/>
          <p:nvPr/>
        </p:nvSpPr>
        <p:spPr>
          <a:xfrm>
            <a:off x="1051560" y="2990088"/>
            <a:ext cx="3383280" cy="347472"/>
          </a:xfrm>
          <a:prstGeom prst="rect">
            <a:avLst/>
          </a:prstGeom>
          <a:noFill/>
          <a:ln/>
        </p:spPr>
        <p:txBody>
          <a:bodyPr wrap="square" lIns="0" tIns="0" rIns="0" bIns="0" rtlCol="0" anchor="ctr"/>
          <a:lstStyle/>
          <a:p>
            <a:pPr algn="l" indent="0" marL="0">
              <a:buNone/>
            </a:pPr>
            <a:r>
              <a:rPr lang="en-US" sz="1300" dirty="0">
                <a:solidFill>
                  <a:srgbClr val="1A1A1A"/>
                </a:solidFill>
                <a:latin typeface="Calibri" pitchFamily="34" charset="0"/>
                <a:ea typeface="Calibri" pitchFamily="34" charset="-122"/>
                <a:cs typeface="Calibri" pitchFamily="34" charset="-120"/>
              </a:rPr>
              <a:t>サイトの役割 &amp; Webコンセプト</a:t>
            </a:r>
            <a:endParaRPr lang="en-US" sz="1300" dirty="0"/>
          </a:p>
        </p:txBody>
      </p:sp>
      <p:sp>
        <p:nvSpPr>
          <p:cNvPr id="15" name="Shape 13"/>
          <p:cNvSpPr/>
          <p:nvPr/>
        </p:nvSpPr>
        <p:spPr>
          <a:xfrm>
            <a:off x="457200" y="3703320"/>
            <a:ext cx="4114800" cy="658368"/>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16" name="Shape 14"/>
          <p:cNvSpPr/>
          <p:nvPr/>
        </p:nvSpPr>
        <p:spPr>
          <a:xfrm>
            <a:off x="457200" y="3703320"/>
            <a:ext cx="502920" cy="658368"/>
          </a:xfrm>
          <a:prstGeom prst="rect">
            <a:avLst/>
          </a:prstGeom>
          <a:solidFill>
            <a:srgbClr val="1E3A5F"/>
          </a:solidFill>
          <a:ln w="12700">
            <a:solidFill>
              <a:srgbClr val="1E3A5F"/>
            </a:solidFill>
            <a:prstDash val="solid"/>
          </a:ln>
        </p:spPr>
      </p:sp>
      <p:sp>
        <p:nvSpPr>
          <p:cNvPr id="17" name="Text 15"/>
          <p:cNvSpPr/>
          <p:nvPr/>
        </p:nvSpPr>
        <p:spPr>
          <a:xfrm>
            <a:off x="457200" y="3813048"/>
            <a:ext cx="50292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18" name="Text 16"/>
          <p:cNvSpPr/>
          <p:nvPr/>
        </p:nvSpPr>
        <p:spPr>
          <a:xfrm>
            <a:off x="1051560" y="3858768"/>
            <a:ext cx="3383280" cy="347472"/>
          </a:xfrm>
          <a:prstGeom prst="rect">
            <a:avLst/>
          </a:prstGeom>
          <a:noFill/>
          <a:ln/>
        </p:spPr>
        <p:txBody>
          <a:bodyPr wrap="square" lIns="0" tIns="0" rIns="0" bIns="0" rtlCol="0" anchor="ctr"/>
          <a:lstStyle/>
          <a:p>
            <a:pPr algn="l" indent="0" marL="0">
              <a:buNone/>
            </a:pPr>
            <a:r>
              <a:rPr lang="en-US" sz="1300" dirty="0">
                <a:solidFill>
                  <a:srgbClr val="1A1A1A"/>
                </a:solidFill>
                <a:latin typeface="Calibri" pitchFamily="34" charset="0"/>
                <a:ea typeface="Calibri" pitchFamily="34" charset="-122"/>
                <a:cs typeface="Calibri" pitchFamily="34" charset="-120"/>
              </a:rPr>
              <a:t>VI案 &amp; 推奨ビジュアル</a:t>
            </a:r>
            <a:endParaRPr lang="en-US" sz="1300" dirty="0"/>
          </a:p>
        </p:txBody>
      </p:sp>
      <p:sp>
        <p:nvSpPr>
          <p:cNvPr id="19" name="Shape 17"/>
          <p:cNvSpPr/>
          <p:nvPr/>
        </p:nvSpPr>
        <p:spPr>
          <a:xfrm>
            <a:off x="4846320" y="1097280"/>
            <a:ext cx="4114800" cy="658368"/>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20" name="Shape 18"/>
          <p:cNvSpPr/>
          <p:nvPr/>
        </p:nvSpPr>
        <p:spPr>
          <a:xfrm>
            <a:off x="4846320" y="1097280"/>
            <a:ext cx="502920" cy="658368"/>
          </a:xfrm>
          <a:prstGeom prst="rect">
            <a:avLst/>
          </a:prstGeom>
          <a:solidFill>
            <a:srgbClr val="1E3A5F"/>
          </a:solidFill>
          <a:ln w="12700">
            <a:solidFill>
              <a:srgbClr val="1E3A5F"/>
            </a:solidFill>
            <a:prstDash val="solid"/>
          </a:ln>
        </p:spPr>
      </p:sp>
      <p:sp>
        <p:nvSpPr>
          <p:cNvPr id="21" name="Text 19"/>
          <p:cNvSpPr/>
          <p:nvPr/>
        </p:nvSpPr>
        <p:spPr>
          <a:xfrm>
            <a:off x="4846320" y="1207008"/>
            <a:ext cx="50292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2" name="Text 20"/>
          <p:cNvSpPr/>
          <p:nvPr/>
        </p:nvSpPr>
        <p:spPr>
          <a:xfrm>
            <a:off x="5440680" y="1252728"/>
            <a:ext cx="3383280" cy="347472"/>
          </a:xfrm>
          <a:prstGeom prst="rect">
            <a:avLst/>
          </a:prstGeom>
          <a:noFill/>
          <a:ln/>
        </p:spPr>
        <p:txBody>
          <a:bodyPr wrap="square" lIns="0" tIns="0" rIns="0" bIns="0" rtlCol="0" anchor="ctr"/>
          <a:lstStyle/>
          <a:p>
            <a:pPr algn="l" indent="0" marL="0">
              <a:buNone/>
            </a:pPr>
            <a:r>
              <a:rPr lang="en-US" sz="1300" dirty="0">
                <a:solidFill>
                  <a:srgbClr val="1A1A1A"/>
                </a:solidFill>
                <a:latin typeface="Calibri" pitchFamily="34" charset="0"/>
                <a:ea typeface="Calibri" pitchFamily="34" charset="-122"/>
                <a:cs typeface="Calibri" pitchFamily="34" charset="-120"/>
              </a:rPr>
              <a:t>サイトマップ &amp; 推奨構成</a:t>
            </a:r>
            <a:endParaRPr lang="en-US" sz="1300" dirty="0"/>
          </a:p>
        </p:txBody>
      </p:sp>
      <p:sp>
        <p:nvSpPr>
          <p:cNvPr id="23" name="Shape 21"/>
          <p:cNvSpPr/>
          <p:nvPr/>
        </p:nvSpPr>
        <p:spPr>
          <a:xfrm>
            <a:off x="4846320" y="1965960"/>
            <a:ext cx="4114800" cy="658368"/>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24" name="Shape 22"/>
          <p:cNvSpPr/>
          <p:nvPr/>
        </p:nvSpPr>
        <p:spPr>
          <a:xfrm>
            <a:off x="4846320" y="1965960"/>
            <a:ext cx="502920" cy="658368"/>
          </a:xfrm>
          <a:prstGeom prst="rect">
            <a:avLst/>
          </a:prstGeom>
          <a:solidFill>
            <a:srgbClr val="1E3A5F"/>
          </a:solidFill>
          <a:ln w="12700">
            <a:solidFill>
              <a:srgbClr val="1E3A5F"/>
            </a:solidFill>
            <a:prstDash val="solid"/>
          </a:ln>
        </p:spPr>
      </p:sp>
      <p:sp>
        <p:nvSpPr>
          <p:cNvPr id="25" name="Text 23"/>
          <p:cNvSpPr/>
          <p:nvPr/>
        </p:nvSpPr>
        <p:spPr>
          <a:xfrm>
            <a:off x="4846320" y="2075688"/>
            <a:ext cx="50292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26" name="Text 24"/>
          <p:cNvSpPr/>
          <p:nvPr/>
        </p:nvSpPr>
        <p:spPr>
          <a:xfrm>
            <a:off x="5440680" y="2121408"/>
            <a:ext cx="3383280" cy="347472"/>
          </a:xfrm>
          <a:prstGeom prst="rect">
            <a:avLst/>
          </a:prstGeom>
          <a:noFill/>
          <a:ln/>
        </p:spPr>
        <p:txBody>
          <a:bodyPr wrap="square" lIns="0" tIns="0" rIns="0" bIns="0" rtlCol="0" anchor="ctr"/>
          <a:lstStyle/>
          <a:p>
            <a:pPr algn="l" indent="0" marL="0">
              <a:buNone/>
            </a:pPr>
            <a:r>
              <a:rPr lang="en-US" sz="1300" dirty="0">
                <a:solidFill>
                  <a:srgbClr val="1A1A1A"/>
                </a:solidFill>
                <a:latin typeface="Calibri" pitchFamily="34" charset="0"/>
                <a:ea typeface="Calibri" pitchFamily="34" charset="-122"/>
                <a:cs typeface="Calibri" pitchFamily="34" charset="-120"/>
              </a:rPr>
              <a:t>主要ページ構成 &amp; デザイン表現</a:t>
            </a:r>
            <a:endParaRPr lang="en-US" sz="1300" dirty="0"/>
          </a:p>
        </p:txBody>
      </p:sp>
      <p:sp>
        <p:nvSpPr>
          <p:cNvPr id="27" name="Shape 25"/>
          <p:cNvSpPr/>
          <p:nvPr/>
        </p:nvSpPr>
        <p:spPr>
          <a:xfrm>
            <a:off x="4846320" y="2834640"/>
            <a:ext cx="4114800" cy="658368"/>
          </a:xfrm>
          <a:prstGeom prst="rect">
            <a:avLst/>
          </a:prstGeom>
          <a:solidFill>
            <a:srgbClr val="FFFFFF"/>
          </a:solidFill>
          <a:ln w="6350">
            <a:solidFill>
              <a:srgbClr val="E2E8F0"/>
            </a:solidFill>
            <a:prstDash val="solid"/>
          </a:ln>
          <a:effectLst>
            <a:outerShdw sx="100000" sy="100000" kx="0" ky="0" algn="bl" rotWithShape="0" blurRad="50800" dist="25400" dir="8100000">
              <a:srgbClr val="000000">
                <a:alpha val="8000"/>
              </a:srgbClr>
            </a:outerShdw>
          </a:effectLst>
        </p:spPr>
      </p:sp>
      <p:sp>
        <p:nvSpPr>
          <p:cNvPr id="28" name="Shape 26"/>
          <p:cNvSpPr/>
          <p:nvPr/>
        </p:nvSpPr>
        <p:spPr>
          <a:xfrm>
            <a:off x="4846320" y="2834640"/>
            <a:ext cx="502920" cy="658368"/>
          </a:xfrm>
          <a:prstGeom prst="rect">
            <a:avLst/>
          </a:prstGeom>
          <a:solidFill>
            <a:srgbClr val="1E3A5F"/>
          </a:solidFill>
          <a:ln w="12700">
            <a:solidFill>
              <a:srgbClr val="1E3A5F"/>
            </a:solidFill>
            <a:prstDash val="solid"/>
          </a:ln>
        </p:spPr>
      </p:sp>
      <p:sp>
        <p:nvSpPr>
          <p:cNvPr id="29" name="Text 27"/>
          <p:cNvSpPr/>
          <p:nvPr/>
        </p:nvSpPr>
        <p:spPr>
          <a:xfrm>
            <a:off x="4846320" y="2944368"/>
            <a:ext cx="50292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30" name="Text 28"/>
          <p:cNvSpPr/>
          <p:nvPr/>
        </p:nvSpPr>
        <p:spPr>
          <a:xfrm>
            <a:off x="5440680" y="2990088"/>
            <a:ext cx="3383280" cy="347472"/>
          </a:xfrm>
          <a:prstGeom prst="rect">
            <a:avLst/>
          </a:prstGeom>
          <a:noFill/>
          <a:ln/>
        </p:spPr>
        <p:txBody>
          <a:bodyPr wrap="square" lIns="0" tIns="0" rIns="0" bIns="0" rtlCol="0" anchor="ctr"/>
          <a:lstStyle/>
          <a:p>
            <a:pPr algn="l" indent="0" marL="0">
              <a:buNone/>
            </a:pPr>
            <a:r>
              <a:rPr lang="en-US" sz="1300" dirty="0">
                <a:solidFill>
                  <a:srgbClr val="1A1A1A"/>
                </a:solidFill>
                <a:latin typeface="Calibri" pitchFamily="34" charset="0"/>
                <a:ea typeface="Calibri" pitchFamily="34" charset="-122"/>
                <a:cs typeface="Calibri" pitchFamily="34" charset="-120"/>
              </a:rPr>
              <a:t>期待できる効果 &amp; 今後の進め方</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sp>
      <p:sp>
        <p:nvSpPr>
          <p:cNvPr id="3" name="Text 1"/>
          <p:cNvSpPr/>
          <p:nvPr/>
        </p:nvSpPr>
        <p:spPr>
          <a:xfrm>
            <a:off x="457200" y="228600"/>
            <a:ext cx="82296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01　提案サマリー</a:t>
            </a:r>
            <a:endParaRPr lang="en-US" sz="2400" dirty="0"/>
          </a:p>
        </p:txBody>
      </p:sp>
      <p:sp>
        <p:nvSpPr>
          <p:cNvPr id="4" name="Text 2"/>
          <p:cNvSpPr/>
          <p:nvPr/>
        </p:nvSpPr>
        <p:spPr>
          <a:xfrm>
            <a:off x="457200" y="1143000"/>
            <a:ext cx="8229600" cy="1005840"/>
          </a:xfrm>
          <a:prstGeom prst="rect">
            <a:avLst/>
          </a:prstGeom>
          <a:noFill/>
          <a:ln/>
        </p:spPr>
        <p:txBody>
          <a:bodyPr wrap="square" lIns="0" tIns="0" rIns="0" bIns="0" rtlCol="0" anchor="t"/>
          <a:lstStyle/>
          <a:p>
            <a:pPr algn="l" indent="0" marL="0">
              <a:buNone/>
            </a:pPr>
            <a:r>
              <a:rPr lang="en-US" sz="1300" dirty="0">
                <a:solidFill>
                  <a:srgbClr val="1A1A1A"/>
                </a:solidFill>
                <a:latin typeface="Calibri" pitchFamily="34" charset="0"/>
                <a:ea typeface="Calibri" pitchFamily="34" charset="-122"/>
                <a:cs typeface="Calibri" pitchFamily="34" charset="-120"/>
              </a:rPr>
              <a:t>本提案では、しっぽカフェ ひるね日和の魅力である「愛される不完全さ」と「心から力を抜ける休息体験」を、Webサイト上で一貫して伝えることを目指します。単なる店舗情報の掲載ではなく、ブランドの空気感を感じてもらいながら、はじめてのお客様にも安心して来店いただける導線を整えることで、世界観訴求と来店支援を両立します。</a:t>
            </a:r>
            <a:endParaRPr lang="en-US" sz="1300" dirty="0"/>
          </a:p>
        </p:txBody>
      </p:sp>
      <p:sp>
        <p:nvSpPr>
          <p:cNvPr id="5" name="Shape 3"/>
          <p:cNvSpPr/>
          <p:nvPr/>
        </p:nvSpPr>
        <p:spPr>
          <a:xfrm>
            <a:off x="457200" y="2331720"/>
            <a:ext cx="2560320" cy="2286000"/>
          </a:xfrm>
          <a:prstGeom prst="rect">
            <a:avLst/>
          </a:prstGeom>
          <a:solidFill>
            <a:srgbClr val="F7F9FC"/>
          </a:solidFill>
          <a:ln w="6350">
            <a:solidFill>
              <a:srgbClr val="E2E8F0"/>
            </a:solidFill>
            <a:prstDash val="solid"/>
          </a:ln>
        </p:spPr>
      </p:sp>
      <p:sp>
        <p:nvSpPr>
          <p:cNvPr id="6" name="Shape 4"/>
          <p:cNvSpPr/>
          <p:nvPr/>
        </p:nvSpPr>
        <p:spPr>
          <a:xfrm>
            <a:off x="1417320" y="2468880"/>
            <a:ext cx="640080" cy="640080"/>
          </a:xfrm>
          <a:prstGeom prst="ellipse">
            <a:avLst/>
          </a:prstGeom>
          <a:solidFill>
            <a:srgbClr val="2E86AB"/>
          </a:solidFill>
          <a:ln w="12700">
            <a:solidFill>
              <a:srgbClr val="2E86AB"/>
            </a:solidFill>
            <a:prstDash val="solid"/>
          </a:ln>
        </p:spPr>
      </p:sp>
      <p:pic>
        <p:nvPicPr>
          <p:cNvPr id="7" name="Image 0" descr="preencoded.png">    </p:cNvPr>
          <p:cNvPicPr>
            <a:picLocks noChangeAspect="1"/>
          </p:cNvPicPr>
          <p:nvPr/>
        </p:nvPicPr>
        <p:blipFill>
          <a:blip r:embed="rId1"/>
          <a:stretch>
            <a:fillRect/>
          </a:stretch>
        </p:blipFill>
        <p:spPr>
          <a:xfrm>
            <a:off x="1508760" y="2560320"/>
            <a:ext cx="457200" cy="457200"/>
          </a:xfrm>
          <a:prstGeom prst="rect">
            <a:avLst/>
          </a:prstGeom>
        </p:spPr>
      </p:pic>
      <p:sp>
        <p:nvSpPr>
          <p:cNvPr id="8" name="Text 5"/>
          <p:cNvSpPr/>
          <p:nvPr/>
        </p:nvSpPr>
        <p:spPr>
          <a:xfrm>
            <a:off x="457200" y="3246120"/>
            <a:ext cx="2560320" cy="36576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世界観の訴求</a:t>
            </a:r>
            <a:endParaRPr lang="en-US" sz="1300" dirty="0"/>
          </a:p>
        </p:txBody>
      </p:sp>
      <p:sp>
        <p:nvSpPr>
          <p:cNvPr id="9" name="Text 6"/>
          <p:cNvSpPr/>
          <p:nvPr/>
        </p:nvSpPr>
        <p:spPr>
          <a:xfrm>
            <a:off x="548640" y="3703320"/>
            <a:ext cx="2377440" cy="68580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ブランドの空気感・温度感をWebで体験</a:t>
            </a:r>
            <a:endParaRPr lang="en-US" sz="1100" dirty="0"/>
          </a:p>
        </p:txBody>
      </p:sp>
      <p:sp>
        <p:nvSpPr>
          <p:cNvPr id="10" name="Shape 7"/>
          <p:cNvSpPr/>
          <p:nvPr/>
        </p:nvSpPr>
        <p:spPr>
          <a:xfrm>
            <a:off x="3310128" y="2331720"/>
            <a:ext cx="2560320" cy="2286000"/>
          </a:xfrm>
          <a:prstGeom prst="rect">
            <a:avLst/>
          </a:prstGeom>
          <a:solidFill>
            <a:srgbClr val="F7F9FC"/>
          </a:solidFill>
          <a:ln w="6350">
            <a:solidFill>
              <a:srgbClr val="E2E8F0"/>
            </a:solidFill>
            <a:prstDash val="solid"/>
          </a:ln>
        </p:spPr>
      </p:sp>
      <p:sp>
        <p:nvSpPr>
          <p:cNvPr id="11" name="Shape 8"/>
          <p:cNvSpPr/>
          <p:nvPr/>
        </p:nvSpPr>
        <p:spPr>
          <a:xfrm>
            <a:off x="4270248" y="2468880"/>
            <a:ext cx="640080" cy="640080"/>
          </a:xfrm>
          <a:prstGeom prst="ellipse">
            <a:avLst/>
          </a:prstGeom>
          <a:solidFill>
            <a:srgbClr val="2E86AB"/>
          </a:solidFill>
          <a:ln w="12700">
            <a:solidFill>
              <a:srgbClr val="2E86AB"/>
            </a:solidFill>
            <a:prstDash val="solid"/>
          </a:ln>
        </p:spPr>
      </p:sp>
      <p:pic>
        <p:nvPicPr>
          <p:cNvPr id="12" name="Image 1" descr="preencoded.png">    </p:cNvPr>
          <p:cNvPicPr>
            <a:picLocks noChangeAspect="1"/>
          </p:cNvPicPr>
          <p:nvPr/>
        </p:nvPicPr>
        <p:blipFill>
          <a:blip r:embed="rId2"/>
          <a:stretch>
            <a:fillRect/>
          </a:stretch>
        </p:blipFill>
        <p:spPr>
          <a:xfrm>
            <a:off x="4361688" y="2560320"/>
            <a:ext cx="457200" cy="457200"/>
          </a:xfrm>
          <a:prstGeom prst="rect">
            <a:avLst/>
          </a:prstGeom>
        </p:spPr>
      </p:pic>
      <p:sp>
        <p:nvSpPr>
          <p:cNvPr id="13" name="Text 9"/>
          <p:cNvSpPr/>
          <p:nvPr/>
        </p:nvSpPr>
        <p:spPr>
          <a:xfrm>
            <a:off x="3310128" y="3246120"/>
            <a:ext cx="2560320" cy="36576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来店支援</a:t>
            </a:r>
            <a:endParaRPr lang="en-US" sz="1300" dirty="0"/>
          </a:p>
        </p:txBody>
      </p:sp>
      <p:sp>
        <p:nvSpPr>
          <p:cNvPr id="14" name="Text 10"/>
          <p:cNvSpPr/>
          <p:nvPr/>
        </p:nvSpPr>
        <p:spPr>
          <a:xfrm>
            <a:off x="3401568" y="3703320"/>
            <a:ext cx="2377440" cy="68580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初見のお客様の不安をやわらげる情報設計</a:t>
            </a:r>
            <a:endParaRPr lang="en-US" sz="1100" dirty="0"/>
          </a:p>
        </p:txBody>
      </p:sp>
      <p:sp>
        <p:nvSpPr>
          <p:cNvPr id="15" name="Shape 11"/>
          <p:cNvSpPr/>
          <p:nvPr/>
        </p:nvSpPr>
        <p:spPr>
          <a:xfrm>
            <a:off x="6163056" y="2331720"/>
            <a:ext cx="2560320" cy="2286000"/>
          </a:xfrm>
          <a:prstGeom prst="rect">
            <a:avLst/>
          </a:prstGeom>
          <a:solidFill>
            <a:srgbClr val="F7F9FC"/>
          </a:solidFill>
          <a:ln w="6350">
            <a:solidFill>
              <a:srgbClr val="E2E8F0"/>
            </a:solidFill>
            <a:prstDash val="solid"/>
          </a:ln>
        </p:spPr>
      </p:sp>
      <p:sp>
        <p:nvSpPr>
          <p:cNvPr id="16" name="Shape 12"/>
          <p:cNvSpPr/>
          <p:nvPr/>
        </p:nvSpPr>
        <p:spPr>
          <a:xfrm>
            <a:off x="7123176" y="2468880"/>
            <a:ext cx="640080" cy="640080"/>
          </a:xfrm>
          <a:prstGeom prst="ellipse">
            <a:avLst/>
          </a:prstGeom>
          <a:solidFill>
            <a:srgbClr val="2E86AB"/>
          </a:solidFill>
          <a:ln w="12700">
            <a:solidFill>
              <a:srgbClr val="2E86AB"/>
            </a:solidFill>
            <a:prstDash val="solid"/>
          </a:ln>
        </p:spPr>
      </p:sp>
      <p:pic>
        <p:nvPicPr>
          <p:cNvPr id="17" name="Image 2" descr="preencoded.png">    </p:cNvPr>
          <p:cNvPicPr>
            <a:picLocks noChangeAspect="1"/>
          </p:cNvPicPr>
          <p:nvPr/>
        </p:nvPicPr>
        <p:blipFill>
          <a:blip r:embed="rId3"/>
          <a:stretch>
            <a:fillRect/>
          </a:stretch>
        </p:blipFill>
        <p:spPr>
          <a:xfrm>
            <a:off x="7214616" y="2560320"/>
            <a:ext cx="457200" cy="457200"/>
          </a:xfrm>
          <a:prstGeom prst="rect">
            <a:avLst/>
          </a:prstGeom>
        </p:spPr>
      </p:pic>
      <p:sp>
        <p:nvSpPr>
          <p:cNvPr id="18" name="Text 13"/>
          <p:cNvSpPr/>
          <p:nvPr/>
        </p:nvSpPr>
        <p:spPr>
          <a:xfrm>
            <a:off x="6163056" y="3246120"/>
            <a:ext cx="2560320" cy="36576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継続的なつながり</a:t>
            </a:r>
            <a:endParaRPr lang="en-US" sz="1300" dirty="0"/>
          </a:p>
        </p:txBody>
      </p:sp>
      <p:sp>
        <p:nvSpPr>
          <p:cNvPr id="19" name="Text 14"/>
          <p:cNvSpPr/>
          <p:nvPr/>
        </p:nvSpPr>
        <p:spPr>
          <a:xfrm>
            <a:off x="6254496" y="3703320"/>
            <a:ext cx="2377440" cy="68580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来店後もゆるやかにつながり続ける発信</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sp>
      <p:sp>
        <p:nvSpPr>
          <p:cNvPr id="3" name="Text 1"/>
          <p:cNvSpPr/>
          <p:nvPr/>
        </p:nvSpPr>
        <p:spPr>
          <a:xfrm>
            <a:off x="457200" y="228600"/>
            <a:ext cx="82296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02　ブランド理解 &amp; ターゲット</a:t>
            </a:r>
            <a:endParaRPr lang="en-US" sz="2400" dirty="0"/>
          </a:p>
        </p:txBody>
      </p:sp>
      <p:sp>
        <p:nvSpPr>
          <p:cNvPr id="4" name="Shape 2"/>
          <p:cNvSpPr/>
          <p:nvPr/>
        </p:nvSpPr>
        <p:spPr>
          <a:xfrm>
            <a:off x="365760" y="1097280"/>
            <a:ext cx="3931920" cy="3566160"/>
          </a:xfrm>
          <a:prstGeom prst="rect">
            <a:avLst/>
          </a:prstGeom>
          <a:solidFill>
            <a:srgbClr val="F7F9FC"/>
          </a:solidFill>
          <a:ln w="6350">
            <a:solidFill>
              <a:srgbClr val="E2E8F0"/>
            </a:solidFill>
            <a:prstDash val="solid"/>
          </a:ln>
        </p:spPr>
      </p:sp>
      <p:sp>
        <p:nvSpPr>
          <p:cNvPr id="5" name="Shape 3"/>
          <p:cNvSpPr/>
          <p:nvPr/>
        </p:nvSpPr>
        <p:spPr>
          <a:xfrm>
            <a:off x="365760" y="1097280"/>
            <a:ext cx="3931920" cy="411480"/>
          </a:xfrm>
          <a:prstGeom prst="rect">
            <a:avLst/>
          </a:prstGeom>
          <a:solidFill>
            <a:srgbClr val="2E86AB"/>
          </a:solidFill>
          <a:ln w="12700">
            <a:solidFill>
              <a:srgbClr val="2E86AB"/>
            </a:solidFill>
            <a:prstDash val="solid"/>
          </a:ln>
        </p:spPr>
      </p:sp>
      <p:sp>
        <p:nvSpPr>
          <p:cNvPr id="6" name="Text 4"/>
          <p:cNvSpPr/>
          <p:nvPr/>
        </p:nvSpPr>
        <p:spPr>
          <a:xfrm>
            <a:off x="457200" y="1133856"/>
            <a:ext cx="3749040" cy="338328"/>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ブランド理解</a:t>
            </a:r>
            <a:endParaRPr lang="en-US" sz="1400" dirty="0"/>
          </a:p>
        </p:txBody>
      </p:sp>
      <p:sp>
        <p:nvSpPr>
          <p:cNvPr id="7" name="Text 5"/>
          <p:cNvSpPr/>
          <p:nvPr/>
        </p:nvSpPr>
        <p:spPr>
          <a:xfrm>
            <a:off x="502920" y="1600200"/>
            <a:ext cx="3657600" cy="640080"/>
          </a:xfrm>
          <a:prstGeom prst="rect">
            <a:avLst/>
          </a:prstGeom>
          <a:noFill/>
          <a:ln/>
        </p:spPr>
        <p:txBody>
          <a:bodyPr wrap="square" rtlCol="0" anchor="ctr"/>
          <a:lstStyle/>
          <a:p>
            <a:pPr algn="l" indent="0" marL="0">
              <a:buNone/>
            </a:pPr>
            <a:r>
              <a:rPr lang="en-US" sz="1200" b="1" dirty="0">
                <a:solidFill>
                  <a:srgbClr val="1E3A5F"/>
                </a:solidFill>
                <a:latin typeface="Calibri" pitchFamily="34" charset="0"/>
                <a:ea typeface="Calibri" pitchFamily="34" charset="-122"/>
                <a:cs typeface="Calibri" pitchFamily="34" charset="-120"/>
              </a:rPr>
              <a:t>完璧なサービスの場ではなく、</a:t>
            </a:r>
            <a:endParaRPr lang="en-US" sz="1200" dirty="0"/>
          </a:p>
          <a:p>
            <a:pPr algn="l" indent="0" marL="0">
              <a:buNone/>
            </a:pPr>
            <a:r>
              <a:rPr lang="en-US" sz="1200" b="1" dirty="0">
                <a:solidFill>
                  <a:srgbClr val="1E3A5F"/>
                </a:solidFill>
                <a:latin typeface="Calibri" pitchFamily="34" charset="0"/>
                <a:ea typeface="Calibri" pitchFamily="34" charset="-122"/>
                <a:cs typeface="Calibri" pitchFamily="34" charset="-120"/>
              </a:rPr>
              <a:t>完璧を求められる日常から離れられる場所。</a:t>
            </a:r>
            <a:endParaRPr lang="en-US" sz="1200" dirty="0"/>
          </a:p>
        </p:txBody>
      </p:sp>
      <p:sp>
        <p:nvSpPr>
          <p:cNvPr id="8" name="Text 6"/>
          <p:cNvSpPr/>
          <p:nvPr/>
        </p:nvSpPr>
        <p:spPr>
          <a:xfrm>
            <a:off x="502920" y="2331720"/>
            <a:ext cx="3657600" cy="1463040"/>
          </a:xfrm>
          <a:prstGeom prst="rect">
            <a:avLst/>
          </a:prstGeom>
          <a:noFill/>
          <a:ln/>
        </p:spPr>
        <p:txBody>
          <a:bodyPr wrap="square" rtlCol="0" anchor="ctr"/>
          <a:lstStyle/>
          <a:p>
            <a:pPr algn="l" indent="0" marL="0">
              <a:buNone/>
            </a:pPr>
            <a:r>
              <a:rPr lang="en-US" sz="1200" dirty="0">
                <a:solidFill>
                  <a:srgbClr val="1A1A1A"/>
                </a:solidFill>
                <a:latin typeface="Calibri" pitchFamily="34" charset="0"/>
                <a:ea typeface="Calibri" pitchFamily="34" charset="-122"/>
                <a:cs typeface="Calibri" pitchFamily="34" charset="-120"/>
              </a:rPr>
              <a:t>・動物たちの愛らしいふるまい</a:t>
            </a:r>
            <a:endParaRPr lang="en-US" sz="1200" dirty="0"/>
          </a:p>
          <a:p>
            <a:pPr algn="l" indent="0" marL="0">
              <a:buNone/>
            </a:pPr>
            <a:r>
              <a:rPr lang="en-US" sz="1200" dirty="0">
                <a:solidFill>
                  <a:srgbClr val="1A1A1A"/>
                </a:solidFill>
                <a:latin typeface="Calibri" pitchFamily="34" charset="0"/>
                <a:ea typeface="Calibri" pitchFamily="34" charset="-122"/>
                <a:cs typeface="Calibri" pitchFamily="34" charset="-120"/>
              </a:rPr>
              <a:t>・森のぬくもりを感じる空間</a:t>
            </a:r>
            <a:endParaRPr lang="en-US" sz="1200" dirty="0"/>
          </a:p>
          <a:p>
            <a:pPr algn="l" indent="0" marL="0">
              <a:buNone/>
            </a:pPr>
            <a:r>
              <a:rPr lang="en-US" sz="1200" dirty="0">
                <a:solidFill>
                  <a:srgbClr val="1A1A1A"/>
                </a:solidFill>
                <a:latin typeface="Calibri" pitchFamily="34" charset="0"/>
                <a:ea typeface="Calibri" pitchFamily="34" charset="-122"/>
                <a:cs typeface="Calibri" pitchFamily="34" charset="-120"/>
              </a:rPr>
              <a:t>・気まぐれさを受け入れ合うルール</a:t>
            </a:r>
            <a:endParaRPr lang="en-US" sz="1200" dirty="0"/>
          </a:p>
          <a:p>
            <a:pPr algn="l" indent="0" marL="0">
              <a:buNone/>
            </a:pPr>
            <a:r>
              <a:rPr lang="en-US" sz="1200" dirty="0">
                <a:solidFill>
                  <a:srgbClr val="1A1A1A"/>
                </a:solidFill>
                <a:latin typeface="Calibri" pitchFamily="34" charset="0"/>
                <a:ea typeface="Calibri" pitchFamily="34" charset="-122"/>
                <a:cs typeface="Calibri" pitchFamily="34" charset="-120"/>
              </a:rPr>
              <a:t>・整いすぎない安心感・ぬくもり・余白</a:t>
            </a:r>
            <a:endParaRPr lang="en-US" sz="1200" dirty="0"/>
          </a:p>
        </p:txBody>
      </p:sp>
      <p:sp>
        <p:nvSpPr>
          <p:cNvPr id="9" name="Shape 7"/>
          <p:cNvSpPr/>
          <p:nvPr/>
        </p:nvSpPr>
        <p:spPr>
          <a:xfrm>
            <a:off x="4846320" y="1097280"/>
            <a:ext cx="3931920" cy="3566160"/>
          </a:xfrm>
          <a:prstGeom prst="rect">
            <a:avLst/>
          </a:prstGeom>
          <a:solidFill>
            <a:srgbClr val="F7F9FC"/>
          </a:solidFill>
          <a:ln w="6350">
            <a:solidFill>
              <a:srgbClr val="E2E8F0"/>
            </a:solidFill>
            <a:prstDash val="solid"/>
          </a:ln>
        </p:spPr>
      </p:sp>
      <p:sp>
        <p:nvSpPr>
          <p:cNvPr id="10" name="Shape 8"/>
          <p:cNvSpPr/>
          <p:nvPr/>
        </p:nvSpPr>
        <p:spPr>
          <a:xfrm>
            <a:off x="4846320" y="1097280"/>
            <a:ext cx="3931920" cy="411480"/>
          </a:xfrm>
          <a:prstGeom prst="rect">
            <a:avLst/>
          </a:prstGeom>
          <a:solidFill>
            <a:srgbClr val="1E3A5F"/>
          </a:solidFill>
          <a:ln w="12700">
            <a:solidFill>
              <a:srgbClr val="1E3A5F"/>
            </a:solidFill>
            <a:prstDash val="solid"/>
          </a:ln>
        </p:spPr>
      </p:sp>
      <p:sp>
        <p:nvSpPr>
          <p:cNvPr id="11" name="Text 9"/>
          <p:cNvSpPr/>
          <p:nvPr/>
        </p:nvSpPr>
        <p:spPr>
          <a:xfrm>
            <a:off x="4937760" y="1133856"/>
            <a:ext cx="3749040" cy="338328"/>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ターゲット</a:t>
            </a:r>
            <a:endParaRPr lang="en-US" sz="1400" dirty="0"/>
          </a:p>
        </p:txBody>
      </p:sp>
      <p:sp>
        <p:nvSpPr>
          <p:cNvPr id="12" name="Text 10"/>
          <p:cNvSpPr/>
          <p:nvPr/>
        </p:nvSpPr>
        <p:spPr>
          <a:xfrm>
            <a:off x="4937760" y="1600200"/>
            <a:ext cx="3657600" cy="685800"/>
          </a:xfrm>
          <a:prstGeom prst="rect">
            <a:avLst/>
          </a:prstGeom>
          <a:noFill/>
          <a:ln/>
        </p:spPr>
        <p:txBody>
          <a:bodyPr wrap="square" rtlCol="0" anchor="ctr"/>
          <a:lstStyle/>
          <a:p>
            <a:pPr algn="l" indent="0" marL="0">
              <a:buNone/>
            </a:pPr>
            <a:r>
              <a:rPr lang="en-US" sz="1200" b="1" dirty="0">
                <a:solidFill>
                  <a:srgbClr val="1E3A5F"/>
                </a:solidFill>
                <a:latin typeface="Calibri" pitchFamily="34" charset="0"/>
                <a:ea typeface="Calibri" pitchFamily="34" charset="-122"/>
                <a:cs typeface="Calibri" pitchFamily="34" charset="-120"/>
              </a:rPr>
              <a:t>日々の役割や緊張感から離れ、</a:t>
            </a:r>
            <a:endParaRPr lang="en-US" sz="1200" dirty="0"/>
          </a:p>
          <a:p>
            <a:pPr algn="l" indent="0" marL="0">
              <a:buNone/>
            </a:pPr>
            <a:r>
              <a:rPr lang="en-US" sz="1200" b="1" dirty="0">
                <a:solidFill>
                  <a:srgbClr val="1E3A5F"/>
                </a:solidFill>
                <a:latin typeface="Calibri" pitchFamily="34" charset="0"/>
                <a:ea typeface="Calibri" pitchFamily="34" charset="-122"/>
                <a:cs typeface="Calibri" pitchFamily="34" charset="-120"/>
              </a:rPr>
              <a:t>素の自分に戻れる場所を求める方</a:t>
            </a:r>
            <a:endParaRPr lang="en-US" sz="1200" dirty="0"/>
          </a:p>
        </p:txBody>
      </p:sp>
      <p:sp>
        <p:nvSpPr>
          <p:cNvPr id="13" name="Text 11"/>
          <p:cNvSpPr/>
          <p:nvPr/>
        </p:nvSpPr>
        <p:spPr>
          <a:xfrm>
            <a:off x="4937760" y="2377440"/>
            <a:ext cx="3657600" cy="1463040"/>
          </a:xfrm>
          <a:prstGeom prst="rect">
            <a:avLst/>
          </a:prstGeom>
          <a:noFill/>
          <a:ln/>
        </p:spPr>
        <p:txBody>
          <a:bodyPr wrap="square" rtlCol="0" anchor="ctr"/>
          <a:lstStyle/>
          <a:p>
            <a:pPr algn="l" indent="0" marL="0">
              <a:buNone/>
            </a:pPr>
            <a:r>
              <a:rPr lang="en-US" sz="1200" dirty="0">
                <a:solidFill>
                  <a:srgbClr val="1A1A1A"/>
                </a:solidFill>
                <a:latin typeface="Calibri" pitchFamily="34" charset="0"/>
                <a:ea typeface="Calibri" pitchFamily="34" charset="-122"/>
                <a:cs typeface="Calibri" pitchFamily="34" charset="-120"/>
              </a:rPr>
              <a:t>・効率ではなく心地よさを大切にしたい人</a:t>
            </a:r>
            <a:endParaRPr lang="en-US" sz="1200" dirty="0"/>
          </a:p>
          <a:p>
            <a:pPr algn="l" indent="0" marL="0">
              <a:buNone/>
            </a:pPr>
            <a:r>
              <a:rPr lang="en-US" sz="1200" dirty="0">
                <a:solidFill>
                  <a:srgbClr val="1A1A1A"/>
                </a:solidFill>
                <a:latin typeface="Calibri" pitchFamily="34" charset="0"/>
                <a:ea typeface="Calibri" pitchFamily="34" charset="-122"/>
                <a:cs typeface="Calibri" pitchFamily="34" charset="-120"/>
              </a:rPr>
              <a:t>・仕事・学業・育児で追われている人</a:t>
            </a:r>
            <a:endParaRPr lang="en-US" sz="1200" dirty="0"/>
          </a:p>
          <a:p>
            <a:pPr algn="l" indent="0" marL="0">
              <a:buNone/>
            </a:pPr>
            <a:r>
              <a:rPr lang="en-US" sz="1200" dirty="0">
                <a:solidFill>
                  <a:srgbClr val="1A1A1A"/>
                </a:solidFill>
                <a:latin typeface="Calibri" pitchFamily="34" charset="0"/>
                <a:ea typeface="Calibri" pitchFamily="34" charset="-122"/>
                <a:cs typeface="Calibri" pitchFamily="34" charset="-120"/>
              </a:rPr>
              <a:t>・少し崩れたやさしさに愛着を感じる人</a:t>
            </a:r>
            <a:endParaRPr lang="en-US" sz="1200" dirty="0"/>
          </a:p>
          <a:p>
            <a:pPr algn="l" indent="0" marL="0">
              <a:buNone/>
            </a:pPr>
            <a:r>
              <a:rPr lang="en-US" sz="1200" dirty="0">
                <a:solidFill>
                  <a:srgbClr val="1A1A1A"/>
                </a:solidFill>
                <a:latin typeface="Calibri" pitchFamily="34" charset="0"/>
                <a:ea typeface="Calibri" pitchFamily="34" charset="-122"/>
                <a:cs typeface="Calibri" pitchFamily="34" charset="-120"/>
              </a:rPr>
              <a:t>・人の気配がある場所を好む人</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sp>
      <p:sp>
        <p:nvSpPr>
          <p:cNvPr id="3" name="Text 1"/>
          <p:cNvSpPr/>
          <p:nvPr/>
        </p:nvSpPr>
        <p:spPr>
          <a:xfrm>
            <a:off x="457200" y="228600"/>
            <a:ext cx="82296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03　サイトの役割 &amp; Web コンセプト</a:t>
            </a:r>
            <a:endParaRPr lang="en-US" sz="2400" dirty="0"/>
          </a:p>
        </p:txBody>
      </p:sp>
      <p:sp>
        <p:nvSpPr>
          <p:cNvPr id="4" name="Shape 2"/>
          <p:cNvSpPr/>
          <p:nvPr/>
        </p:nvSpPr>
        <p:spPr>
          <a:xfrm>
            <a:off x="365760" y="1234440"/>
            <a:ext cx="502920" cy="502920"/>
          </a:xfrm>
          <a:prstGeom prst="ellipse">
            <a:avLst/>
          </a:prstGeom>
          <a:solidFill>
            <a:srgbClr val="2E86AB"/>
          </a:solidFill>
          <a:ln w="12700">
            <a:solidFill>
              <a:srgbClr val="2E86AB"/>
            </a:solidFill>
            <a:prstDash val="solid"/>
          </a:ln>
        </p:spPr>
      </p:sp>
      <p:sp>
        <p:nvSpPr>
          <p:cNvPr id="5" name="Text 3"/>
          <p:cNvSpPr/>
          <p:nvPr/>
        </p:nvSpPr>
        <p:spPr>
          <a:xfrm>
            <a:off x="365760" y="1261872"/>
            <a:ext cx="5029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005840" y="1143000"/>
            <a:ext cx="3566160" cy="365760"/>
          </a:xfrm>
          <a:prstGeom prst="rect">
            <a:avLst/>
          </a:prstGeom>
          <a:noFill/>
          <a:ln/>
        </p:spPr>
        <p:txBody>
          <a:bodyPr wrap="square" lIns="0" tIns="0" rIns="0" bIns="0" rtlCol="0" anchor="ctr"/>
          <a:lstStyle/>
          <a:p>
            <a:pPr algn="l" indent="0" marL="0">
              <a:buNone/>
            </a:pPr>
            <a:r>
              <a:rPr lang="en-US" sz="1400" b="1" dirty="0">
                <a:solidFill>
                  <a:srgbClr val="1E3A5F"/>
                </a:solidFill>
                <a:latin typeface="Calibri" pitchFamily="34" charset="0"/>
                <a:ea typeface="Calibri" pitchFamily="34" charset="-122"/>
                <a:cs typeface="Calibri" pitchFamily="34" charset="-120"/>
              </a:rPr>
              <a:t>世界観を伝える</a:t>
            </a:r>
            <a:endParaRPr lang="en-US" sz="1400" dirty="0"/>
          </a:p>
        </p:txBody>
      </p:sp>
      <p:sp>
        <p:nvSpPr>
          <p:cNvPr id="7" name="Text 5"/>
          <p:cNvSpPr/>
          <p:nvPr/>
        </p:nvSpPr>
        <p:spPr>
          <a:xfrm>
            <a:off x="1005840" y="1508760"/>
            <a:ext cx="3566160" cy="457200"/>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ブランドの空気感・ぬくもりをWebでも一貫して体験できるよう設計</a:t>
            </a:r>
            <a:endParaRPr lang="en-US" sz="1100" dirty="0"/>
          </a:p>
        </p:txBody>
      </p:sp>
      <p:sp>
        <p:nvSpPr>
          <p:cNvPr id="8" name="Shape 6"/>
          <p:cNvSpPr/>
          <p:nvPr/>
        </p:nvSpPr>
        <p:spPr>
          <a:xfrm>
            <a:off x="365760" y="2148840"/>
            <a:ext cx="502920" cy="502920"/>
          </a:xfrm>
          <a:prstGeom prst="ellipse">
            <a:avLst/>
          </a:prstGeom>
          <a:solidFill>
            <a:srgbClr val="2E86AB"/>
          </a:solidFill>
          <a:ln w="12700">
            <a:solidFill>
              <a:srgbClr val="2E86AB"/>
            </a:solidFill>
            <a:prstDash val="solid"/>
          </a:ln>
        </p:spPr>
      </p:sp>
      <p:sp>
        <p:nvSpPr>
          <p:cNvPr id="9" name="Text 7"/>
          <p:cNvSpPr/>
          <p:nvPr/>
        </p:nvSpPr>
        <p:spPr>
          <a:xfrm>
            <a:off x="365760" y="2176272"/>
            <a:ext cx="5029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005840" y="2057400"/>
            <a:ext cx="3566160" cy="365760"/>
          </a:xfrm>
          <a:prstGeom prst="rect">
            <a:avLst/>
          </a:prstGeom>
          <a:noFill/>
          <a:ln/>
        </p:spPr>
        <p:txBody>
          <a:bodyPr wrap="square" lIns="0" tIns="0" rIns="0" bIns="0" rtlCol="0" anchor="ctr"/>
          <a:lstStyle/>
          <a:p>
            <a:pPr algn="l" indent="0" marL="0">
              <a:buNone/>
            </a:pPr>
            <a:r>
              <a:rPr lang="en-US" sz="1400" b="1" dirty="0">
                <a:solidFill>
                  <a:srgbClr val="1E3A5F"/>
                </a:solidFill>
                <a:latin typeface="Calibri" pitchFamily="34" charset="0"/>
                <a:ea typeface="Calibri" pitchFamily="34" charset="-122"/>
                <a:cs typeface="Calibri" pitchFamily="34" charset="-120"/>
              </a:rPr>
              <a:t>来店前の不安をやわらげる</a:t>
            </a:r>
            <a:endParaRPr lang="en-US" sz="1400" dirty="0"/>
          </a:p>
        </p:txBody>
      </p:sp>
      <p:sp>
        <p:nvSpPr>
          <p:cNvPr id="11" name="Text 9"/>
          <p:cNvSpPr/>
          <p:nvPr/>
        </p:nvSpPr>
        <p:spPr>
          <a:xfrm>
            <a:off x="1005840" y="2423160"/>
            <a:ext cx="3566160" cy="457200"/>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営業時間・アクセス・席・ルールなど、初見の不安を解消する情報を整理</a:t>
            </a:r>
            <a:endParaRPr lang="en-US" sz="1100" dirty="0"/>
          </a:p>
        </p:txBody>
      </p:sp>
      <p:sp>
        <p:nvSpPr>
          <p:cNvPr id="12" name="Shape 10"/>
          <p:cNvSpPr/>
          <p:nvPr/>
        </p:nvSpPr>
        <p:spPr>
          <a:xfrm>
            <a:off x="365760" y="3063240"/>
            <a:ext cx="502920" cy="502920"/>
          </a:xfrm>
          <a:prstGeom prst="ellipse">
            <a:avLst/>
          </a:prstGeom>
          <a:solidFill>
            <a:srgbClr val="2E86AB"/>
          </a:solidFill>
          <a:ln w="12700">
            <a:solidFill>
              <a:srgbClr val="2E86AB"/>
            </a:solidFill>
            <a:prstDash val="solid"/>
          </a:ln>
        </p:spPr>
      </p:sp>
      <p:sp>
        <p:nvSpPr>
          <p:cNvPr id="13" name="Text 11"/>
          <p:cNvSpPr/>
          <p:nvPr/>
        </p:nvSpPr>
        <p:spPr>
          <a:xfrm>
            <a:off x="365760" y="3090672"/>
            <a:ext cx="5029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p:nvPr/>
        </p:nvSpPr>
        <p:spPr>
          <a:xfrm>
            <a:off x="1005840" y="2971800"/>
            <a:ext cx="3566160" cy="365760"/>
          </a:xfrm>
          <a:prstGeom prst="rect">
            <a:avLst/>
          </a:prstGeom>
          <a:noFill/>
          <a:ln/>
        </p:spPr>
        <p:txBody>
          <a:bodyPr wrap="square" lIns="0" tIns="0" rIns="0" bIns="0" rtlCol="0" anchor="ctr"/>
          <a:lstStyle/>
          <a:p>
            <a:pPr algn="l" indent="0" marL="0">
              <a:buNone/>
            </a:pPr>
            <a:r>
              <a:rPr lang="en-US" sz="1400" b="1" dirty="0">
                <a:solidFill>
                  <a:srgbClr val="1E3A5F"/>
                </a:solidFill>
                <a:latin typeface="Calibri" pitchFamily="34" charset="0"/>
                <a:ea typeface="Calibri" pitchFamily="34" charset="-122"/>
                <a:cs typeface="Calibri" pitchFamily="34" charset="-120"/>
              </a:rPr>
              <a:t>ゆるやかにつながり続ける</a:t>
            </a:r>
            <a:endParaRPr lang="en-US" sz="1400" dirty="0"/>
          </a:p>
        </p:txBody>
      </p:sp>
      <p:sp>
        <p:nvSpPr>
          <p:cNvPr id="15" name="Text 13"/>
          <p:cNvSpPr/>
          <p:nvPr/>
        </p:nvSpPr>
        <p:spPr>
          <a:xfrm>
            <a:off x="1005840" y="3337560"/>
            <a:ext cx="3566160" cy="457200"/>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最新情報や日々の発信を通じ、来店後もファンとの関係を継続</a:t>
            </a:r>
            <a:endParaRPr lang="en-US" sz="1100" dirty="0"/>
          </a:p>
        </p:txBody>
      </p:sp>
      <p:sp>
        <p:nvSpPr>
          <p:cNvPr id="16" name="Shape 14"/>
          <p:cNvSpPr/>
          <p:nvPr/>
        </p:nvSpPr>
        <p:spPr>
          <a:xfrm>
            <a:off x="4846320" y="1097280"/>
            <a:ext cx="3931920" cy="3566160"/>
          </a:xfrm>
          <a:prstGeom prst="rect">
            <a:avLst/>
          </a:prstGeom>
          <a:solidFill>
            <a:srgbClr val="1E3A5F"/>
          </a:solidFill>
          <a:ln w="12700">
            <a:solidFill>
              <a:srgbClr val="1E3A5F"/>
            </a:solidFill>
            <a:prstDash val="solid"/>
          </a:ln>
        </p:spPr>
      </p:sp>
      <p:sp>
        <p:nvSpPr>
          <p:cNvPr id="17" name="Text 15"/>
          <p:cNvSpPr/>
          <p:nvPr/>
        </p:nvSpPr>
        <p:spPr>
          <a:xfrm>
            <a:off x="4937760" y="1280160"/>
            <a:ext cx="3749040" cy="365760"/>
          </a:xfrm>
          <a:prstGeom prst="rect">
            <a:avLst/>
          </a:prstGeom>
          <a:noFill/>
          <a:ln/>
        </p:spPr>
        <p:txBody>
          <a:bodyPr wrap="square" lIns="0" tIns="0" rIns="0" bIns="0" rtlCol="0" anchor="ctr"/>
          <a:lstStyle/>
          <a:p>
            <a:pPr algn="l" indent="0" marL="0">
              <a:buNone/>
            </a:pPr>
            <a:r>
              <a:rPr lang="en-US" sz="1300" dirty="0">
                <a:solidFill>
                  <a:srgbClr val="A8C4D8"/>
                </a:solidFill>
                <a:latin typeface="Calibri" pitchFamily="34" charset="0"/>
                <a:ea typeface="Calibri" pitchFamily="34" charset="-122"/>
                <a:cs typeface="Calibri" pitchFamily="34" charset="-120"/>
              </a:rPr>
              <a:t>Web コンセプト</a:t>
            </a:r>
            <a:endParaRPr lang="en-US" sz="1300" dirty="0"/>
          </a:p>
        </p:txBody>
      </p:sp>
      <p:sp>
        <p:nvSpPr>
          <p:cNvPr id="18" name="Text 16"/>
          <p:cNvSpPr/>
          <p:nvPr/>
        </p:nvSpPr>
        <p:spPr>
          <a:xfrm>
            <a:off x="4937760" y="1737360"/>
            <a:ext cx="3657600" cy="1280160"/>
          </a:xfrm>
          <a:prstGeom prst="rect">
            <a:avLst/>
          </a:prstGeom>
          <a:noFill/>
          <a:ln/>
        </p:spPr>
        <p:txBody>
          <a:bodyPr wrap="square" rtlCol="0" anchor="ctr"/>
          <a:lstStyle/>
          <a:p>
            <a:pPr algn="ctr" indent="0" marL="0">
              <a:buNone/>
            </a:pPr>
            <a:r>
              <a:rPr lang="en-US" sz="1500" b="1" i="1" dirty="0">
                <a:solidFill>
                  <a:srgbClr val="FFFFFF"/>
                </a:solidFill>
                <a:latin typeface="Calibri" pitchFamily="34" charset="0"/>
                <a:ea typeface="Calibri" pitchFamily="34" charset="-122"/>
                <a:cs typeface="Calibri" pitchFamily="34" charset="-120"/>
              </a:rPr>
              <a:t>" ひとやすみしたくなる前から、</a:t>
            </a:r>
            <a:endParaRPr lang="en-US" sz="1500" dirty="0"/>
          </a:p>
          <a:p>
            <a:pPr algn="ctr" indent="0" marL="0">
              <a:buNone/>
            </a:pPr>
            <a:r>
              <a:rPr lang="en-US" sz="1500" b="1" i="1" dirty="0">
                <a:solidFill>
                  <a:srgbClr val="FFFFFF"/>
                </a:solidFill>
                <a:latin typeface="Calibri" pitchFamily="34" charset="0"/>
                <a:ea typeface="Calibri" pitchFamily="34" charset="-122"/>
                <a:cs typeface="Calibri" pitchFamily="34" charset="-120"/>
              </a:rPr>
              <a:t>もう少し気持ちがゆるむサイト "</a:t>
            </a:r>
            <a:endParaRPr lang="en-US" sz="1500" dirty="0"/>
          </a:p>
        </p:txBody>
      </p:sp>
      <p:sp>
        <p:nvSpPr>
          <p:cNvPr id="19" name="Shape 17"/>
          <p:cNvSpPr/>
          <p:nvPr/>
        </p:nvSpPr>
        <p:spPr>
          <a:xfrm>
            <a:off x="5120640" y="3108960"/>
            <a:ext cx="3474720" cy="27432"/>
          </a:xfrm>
          <a:prstGeom prst="rect">
            <a:avLst/>
          </a:prstGeom>
          <a:solidFill>
            <a:srgbClr val="2E86AB"/>
          </a:solidFill>
          <a:ln w="12700">
            <a:solidFill>
              <a:srgbClr val="2E86AB"/>
            </a:solidFill>
            <a:prstDash val="solid"/>
          </a:ln>
        </p:spPr>
      </p:sp>
      <p:sp>
        <p:nvSpPr>
          <p:cNvPr id="20" name="Text 18"/>
          <p:cNvSpPr/>
          <p:nvPr/>
        </p:nvSpPr>
        <p:spPr>
          <a:xfrm>
            <a:off x="4937760" y="3246120"/>
            <a:ext cx="3657600" cy="1097280"/>
          </a:xfrm>
          <a:prstGeom prst="rect">
            <a:avLst/>
          </a:prstGeom>
          <a:noFill/>
          <a:ln/>
        </p:spPr>
        <p:txBody>
          <a:bodyPr wrap="square" rtlCol="0" anchor="ctr"/>
          <a:lstStyle/>
          <a:p>
            <a:pPr algn="ctr" indent="0" marL="0">
              <a:buNone/>
            </a:pPr>
            <a:r>
              <a:rPr lang="en-US" sz="1100" dirty="0">
                <a:solidFill>
                  <a:srgbClr val="C8DCE8"/>
                </a:solidFill>
                <a:latin typeface="Calibri" pitchFamily="34" charset="0"/>
                <a:ea typeface="Calibri" pitchFamily="34" charset="-122"/>
                <a:cs typeface="Calibri" pitchFamily="34" charset="-120"/>
              </a:rPr>
              <a:t>サイトを訪れた瞬間から空気にふれ、安心し、</a:t>
            </a:r>
            <a:endParaRPr lang="en-US" sz="1100" dirty="0"/>
          </a:p>
          <a:p>
            <a:pPr algn="ctr" indent="0" marL="0">
              <a:buNone/>
            </a:pPr>
            <a:r>
              <a:rPr lang="en-US" sz="1100" dirty="0">
                <a:solidFill>
                  <a:srgbClr val="C8DCE8"/>
                </a:solidFill>
                <a:latin typeface="Calibri" pitchFamily="34" charset="0"/>
                <a:ea typeface="Calibri" pitchFamily="34" charset="-122"/>
                <a:cs typeface="Calibri" pitchFamily="34" charset="-120"/>
              </a:rPr>
              <a:t>来店のハードルが少し下がる体験をつくる。</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sp>
      <p:sp>
        <p:nvSpPr>
          <p:cNvPr id="3" name="Text 1"/>
          <p:cNvSpPr/>
          <p:nvPr/>
        </p:nvSpPr>
        <p:spPr>
          <a:xfrm>
            <a:off x="457200" y="228600"/>
            <a:ext cx="82296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04　VI案比較</a:t>
            </a:r>
            <a:endParaRPr lang="en-US" sz="2400" dirty="0"/>
          </a:p>
        </p:txBody>
      </p:sp>
      <p:sp>
        <p:nvSpPr>
          <p:cNvPr id="4" name="Shape 2"/>
          <p:cNvSpPr/>
          <p:nvPr/>
        </p:nvSpPr>
        <p:spPr>
          <a:xfrm>
            <a:off x="365760" y="1143000"/>
            <a:ext cx="2606040" cy="3520440"/>
          </a:xfrm>
          <a:prstGeom prst="rect">
            <a:avLst/>
          </a:prstGeom>
          <a:solidFill>
            <a:srgbClr val="F7F9FC"/>
          </a:solidFill>
          <a:ln w="19050">
            <a:solidFill>
              <a:srgbClr val="2E86AB"/>
            </a:solidFill>
            <a:prstDash val="solid"/>
          </a:ln>
        </p:spPr>
      </p:sp>
      <p:sp>
        <p:nvSpPr>
          <p:cNvPr id="5" name="Shape 3"/>
          <p:cNvSpPr/>
          <p:nvPr/>
        </p:nvSpPr>
        <p:spPr>
          <a:xfrm>
            <a:off x="365760" y="1143000"/>
            <a:ext cx="2606040" cy="685800"/>
          </a:xfrm>
          <a:prstGeom prst="rect">
            <a:avLst/>
          </a:prstGeom>
          <a:solidFill>
            <a:srgbClr val="2E86AB"/>
          </a:solidFill>
          <a:ln w="12700">
            <a:solidFill>
              <a:srgbClr val="2E86AB"/>
            </a:solidFill>
            <a:prstDash val="solid"/>
          </a:ln>
        </p:spPr>
      </p:sp>
      <p:sp>
        <p:nvSpPr>
          <p:cNvPr id="6" name="Text 4"/>
          <p:cNvSpPr/>
          <p:nvPr/>
        </p:nvSpPr>
        <p:spPr>
          <a:xfrm>
            <a:off x="365760" y="1207008"/>
            <a:ext cx="260604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案1</a:t>
            </a:r>
            <a:endParaRPr lang="en-US" sz="1100" dirty="0"/>
          </a:p>
        </p:txBody>
      </p:sp>
      <p:sp>
        <p:nvSpPr>
          <p:cNvPr id="7" name="Text 5"/>
          <p:cNvSpPr/>
          <p:nvPr/>
        </p:nvSpPr>
        <p:spPr>
          <a:xfrm>
            <a:off x="365760" y="1481328"/>
            <a:ext cx="260604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森の木漏れ日</a:t>
            </a:r>
            <a:endParaRPr lang="en-US" sz="1400" dirty="0"/>
          </a:p>
        </p:txBody>
      </p:sp>
      <p:sp>
        <p:nvSpPr>
          <p:cNvPr id="8" name="Shape 6"/>
          <p:cNvSpPr/>
          <p:nvPr/>
        </p:nvSpPr>
        <p:spPr>
          <a:xfrm>
            <a:off x="914400" y="1920240"/>
            <a:ext cx="1508760" cy="292608"/>
          </a:xfrm>
          <a:prstGeom prst="rect">
            <a:avLst/>
          </a:prstGeom>
          <a:solidFill>
            <a:srgbClr val="2E86AB"/>
          </a:solidFill>
          <a:ln w="12700">
            <a:solidFill>
              <a:srgbClr val="2E86AB"/>
            </a:solidFill>
            <a:prstDash val="solid"/>
          </a:ln>
        </p:spPr>
      </p:sp>
      <p:sp>
        <p:nvSpPr>
          <p:cNvPr id="9" name="Text 7"/>
          <p:cNvSpPr/>
          <p:nvPr/>
        </p:nvSpPr>
        <p:spPr>
          <a:xfrm>
            <a:off x="914400" y="1956816"/>
            <a:ext cx="150876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一次推奨</a:t>
            </a:r>
            <a:endParaRPr lang="en-US" sz="1100" dirty="0"/>
          </a:p>
        </p:txBody>
      </p:sp>
      <p:sp>
        <p:nvSpPr>
          <p:cNvPr id="10" name="Text 8"/>
          <p:cNvSpPr/>
          <p:nvPr/>
        </p:nvSpPr>
        <p:spPr>
          <a:xfrm>
            <a:off x="457200" y="2331720"/>
            <a:ext cx="2423160" cy="1463040"/>
          </a:xfrm>
          <a:prstGeom prst="rect">
            <a:avLst/>
          </a:prstGeom>
          <a:noFill/>
          <a:ln/>
        </p:spPr>
        <p:txBody>
          <a:bodyPr wrap="square" rtlCol="0" anchor="ctr"/>
          <a:lstStyle/>
          <a:p>
            <a:pPr algn="l" indent="0" marL="0">
              <a:buNone/>
            </a:pPr>
            <a:r>
              <a:rPr lang="en-US" sz="1100" dirty="0">
                <a:solidFill>
                  <a:srgbClr val="1A1A1A"/>
                </a:solidFill>
                <a:latin typeface="Calibri" pitchFamily="34" charset="0"/>
                <a:ea typeface="Calibri" pitchFamily="34" charset="-122"/>
                <a:cs typeface="Calibri" pitchFamily="34" charset="-120"/>
              </a:rPr>
              <a:t>自然体であたたかく、最も安心感のある王道案。ぬくもりと余白が伝わる基調。</a:t>
            </a:r>
            <a:endParaRPr lang="en-US" sz="1100" dirty="0"/>
          </a:p>
        </p:txBody>
      </p:sp>
      <p:sp>
        <p:nvSpPr>
          <p:cNvPr id="11" name="Shape 9"/>
          <p:cNvSpPr/>
          <p:nvPr/>
        </p:nvSpPr>
        <p:spPr>
          <a:xfrm>
            <a:off x="3218688" y="1143000"/>
            <a:ext cx="2606040" cy="3520440"/>
          </a:xfrm>
          <a:prstGeom prst="rect">
            <a:avLst/>
          </a:prstGeom>
          <a:solidFill>
            <a:srgbClr val="F7F9FC"/>
          </a:solidFill>
          <a:ln w="6350">
            <a:solidFill>
              <a:srgbClr val="E2E8F0"/>
            </a:solidFill>
            <a:prstDash val="solid"/>
          </a:ln>
        </p:spPr>
      </p:sp>
      <p:sp>
        <p:nvSpPr>
          <p:cNvPr id="12" name="Shape 10"/>
          <p:cNvSpPr/>
          <p:nvPr/>
        </p:nvSpPr>
        <p:spPr>
          <a:xfrm>
            <a:off x="3218688" y="1143000"/>
            <a:ext cx="2606040" cy="685800"/>
          </a:xfrm>
          <a:prstGeom prst="rect">
            <a:avLst/>
          </a:prstGeom>
          <a:solidFill>
            <a:srgbClr val="8B6FAA"/>
          </a:solidFill>
          <a:ln w="12700">
            <a:solidFill>
              <a:srgbClr val="8B6FAA"/>
            </a:solidFill>
            <a:prstDash val="solid"/>
          </a:ln>
        </p:spPr>
      </p:sp>
      <p:sp>
        <p:nvSpPr>
          <p:cNvPr id="13" name="Text 11"/>
          <p:cNvSpPr/>
          <p:nvPr/>
        </p:nvSpPr>
        <p:spPr>
          <a:xfrm>
            <a:off x="3218688" y="1207008"/>
            <a:ext cx="260604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案2</a:t>
            </a:r>
            <a:endParaRPr lang="en-US" sz="1100" dirty="0"/>
          </a:p>
        </p:txBody>
      </p:sp>
      <p:sp>
        <p:nvSpPr>
          <p:cNvPr id="14" name="Text 12"/>
          <p:cNvSpPr/>
          <p:nvPr/>
        </p:nvSpPr>
        <p:spPr>
          <a:xfrm>
            <a:off x="3218688" y="1481328"/>
            <a:ext cx="260604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おひるねの夢</a:t>
            </a:r>
            <a:endParaRPr lang="en-US" sz="1400" dirty="0"/>
          </a:p>
        </p:txBody>
      </p:sp>
      <p:sp>
        <p:nvSpPr>
          <p:cNvPr id="15" name="Text 13"/>
          <p:cNvSpPr/>
          <p:nvPr/>
        </p:nvSpPr>
        <p:spPr>
          <a:xfrm>
            <a:off x="3310128" y="2331720"/>
            <a:ext cx="2423160" cy="1463040"/>
          </a:xfrm>
          <a:prstGeom prst="rect">
            <a:avLst/>
          </a:prstGeom>
          <a:noFill/>
          <a:ln/>
        </p:spPr>
        <p:txBody>
          <a:bodyPr wrap="square" rtlCol="0" anchor="ctr"/>
          <a:lstStyle/>
          <a:p>
            <a:pPr algn="l" indent="0" marL="0">
              <a:buNone/>
            </a:pPr>
            <a:r>
              <a:rPr lang="en-US" sz="1100" dirty="0">
                <a:solidFill>
                  <a:srgbClr val="1A1A1A"/>
                </a:solidFill>
                <a:latin typeface="Calibri" pitchFamily="34" charset="0"/>
                <a:ea typeface="Calibri" pitchFamily="34" charset="-122"/>
                <a:cs typeface="Calibri" pitchFamily="34" charset="-120"/>
              </a:rPr>
              <a:t>休息・浮遊感を強く感じさせる、情緒的で没入感の高い案。</a:t>
            </a:r>
            <a:endParaRPr lang="en-US" sz="1100" dirty="0"/>
          </a:p>
        </p:txBody>
      </p:sp>
      <p:sp>
        <p:nvSpPr>
          <p:cNvPr id="16" name="Shape 14"/>
          <p:cNvSpPr/>
          <p:nvPr/>
        </p:nvSpPr>
        <p:spPr>
          <a:xfrm>
            <a:off x="6071616" y="1143000"/>
            <a:ext cx="2606040" cy="3520440"/>
          </a:xfrm>
          <a:prstGeom prst="rect">
            <a:avLst/>
          </a:prstGeom>
          <a:solidFill>
            <a:srgbClr val="F7F9FC"/>
          </a:solidFill>
          <a:ln w="6350">
            <a:solidFill>
              <a:srgbClr val="E2E8F0"/>
            </a:solidFill>
            <a:prstDash val="solid"/>
          </a:ln>
        </p:spPr>
      </p:sp>
      <p:sp>
        <p:nvSpPr>
          <p:cNvPr id="17" name="Shape 15"/>
          <p:cNvSpPr/>
          <p:nvPr/>
        </p:nvSpPr>
        <p:spPr>
          <a:xfrm>
            <a:off x="6071616" y="1143000"/>
            <a:ext cx="2606040" cy="685800"/>
          </a:xfrm>
          <a:prstGeom prst="rect">
            <a:avLst/>
          </a:prstGeom>
          <a:solidFill>
            <a:srgbClr val="C45B39"/>
          </a:solidFill>
          <a:ln w="12700">
            <a:solidFill>
              <a:srgbClr val="C45B39"/>
            </a:solidFill>
            <a:prstDash val="solid"/>
          </a:ln>
        </p:spPr>
      </p:sp>
      <p:sp>
        <p:nvSpPr>
          <p:cNvPr id="18" name="Text 16"/>
          <p:cNvSpPr/>
          <p:nvPr/>
        </p:nvSpPr>
        <p:spPr>
          <a:xfrm>
            <a:off x="6071616" y="1207008"/>
            <a:ext cx="260604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案3</a:t>
            </a:r>
            <a:endParaRPr lang="en-US" sz="1100" dirty="0"/>
          </a:p>
        </p:txBody>
      </p:sp>
      <p:sp>
        <p:nvSpPr>
          <p:cNvPr id="19" name="Text 17"/>
          <p:cNvSpPr/>
          <p:nvPr/>
        </p:nvSpPr>
        <p:spPr>
          <a:xfrm>
            <a:off x="6071616" y="1481328"/>
            <a:ext cx="260604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しっぽの足跡</a:t>
            </a:r>
            <a:endParaRPr lang="en-US" sz="1400" dirty="0"/>
          </a:p>
        </p:txBody>
      </p:sp>
      <p:sp>
        <p:nvSpPr>
          <p:cNvPr id="20" name="Text 18"/>
          <p:cNvSpPr/>
          <p:nvPr/>
        </p:nvSpPr>
        <p:spPr>
          <a:xfrm>
            <a:off x="6163056" y="2331720"/>
            <a:ext cx="2423160" cy="1463040"/>
          </a:xfrm>
          <a:prstGeom prst="rect">
            <a:avLst/>
          </a:prstGeom>
          <a:noFill/>
          <a:ln/>
        </p:spPr>
        <p:txBody>
          <a:bodyPr wrap="square" rtlCol="0" anchor="ctr"/>
          <a:lstStyle/>
          <a:p>
            <a:pPr algn="l" indent="0" marL="0">
              <a:buNone/>
            </a:pPr>
            <a:r>
              <a:rPr lang="en-US" sz="1100" dirty="0">
                <a:solidFill>
                  <a:srgbClr val="1A1A1A"/>
                </a:solidFill>
                <a:latin typeface="Calibri" pitchFamily="34" charset="0"/>
                <a:ea typeface="Calibri" pitchFamily="34" charset="-122"/>
                <a:cs typeface="Calibri" pitchFamily="34" charset="-120"/>
              </a:rPr>
              <a:t>遊び心や親しみやすさを前面に出した、記憶に残る個性派の案。</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sp>
      <p:sp>
        <p:nvSpPr>
          <p:cNvPr id="3" name="Text 1"/>
          <p:cNvSpPr/>
          <p:nvPr/>
        </p:nvSpPr>
        <p:spPr>
          <a:xfrm>
            <a:off x="457200" y="228600"/>
            <a:ext cx="82296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04　推奨 VI 案：案1「森の木漏れ日」</a:t>
            </a:r>
            <a:endParaRPr lang="en-US" sz="2400" dirty="0"/>
          </a:p>
        </p:txBody>
      </p:sp>
      <p:sp>
        <p:nvSpPr>
          <p:cNvPr id="4" name="Shape 2"/>
          <p:cNvSpPr/>
          <p:nvPr/>
        </p:nvSpPr>
        <p:spPr>
          <a:xfrm>
            <a:off x="365760" y="1097280"/>
            <a:ext cx="3474720" cy="3566160"/>
          </a:xfrm>
          <a:prstGeom prst="rect">
            <a:avLst/>
          </a:prstGeom>
          <a:solidFill>
            <a:srgbClr val="2E86AB"/>
          </a:solidFill>
          <a:ln w="12700">
            <a:solidFill>
              <a:srgbClr val="2E86AB"/>
            </a:solidFill>
            <a:prstDash val="solid"/>
          </a:ln>
        </p:spPr>
      </p:sp>
      <p:sp>
        <p:nvSpPr>
          <p:cNvPr id="5" name="Text 3"/>
          <p:cNvSpPr/>
          <p:nvPr/>
        </p:nvSpPr>
        <p:spPr>
          <a:xfrm>
            <a:off x="365760" y="2377440"/>
            <a:ext cx="347472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森の木漏れ日</a:t>
            </a:r>
            <a:endParaRPr lang="en-US" sz="2400" dirty="0"/>
          </a:p>
        </p:txBody>
      </p:sp>
      <p:sp>
        <p:nvSpPr>
          <p:cNvPr id="6" name="Text 4"/>
          <p:cNvSpPr/>
          <p:nvPr/>
        </p:nvSpPr>
        <p:spPr>
          <a:xfrm>
            <a:off x="365760" y="2971800"/>
            <a:ext cx="3474720" cy="365760"/>
          </a:xfrm>
          <a:prstGeom prst="rect">
            <a:avLst/>
          </a:prstGeom>
          <a:noFill/>
          <a:ln/>
        </p:spPr>
        <p:txBody>
          <a:bodyPr wrap="square" lIns="0" tIns="0" rIns="0" bIns="0" rtlCol="0" anchor="ctr"/>
          <a:lstStyle/>
          <a:p>
            <a:pPr algn="ctr" indent="0" marL="0">
              <a:buNone/>
            </a:pPr>
            <a:r>
              <a:rPr lang="en-US" sz="1400" dirty="0">
                <a:solidFill>
                  <a:srgbClr val="C8E0EC"/>
                </a:solidFill>
                <a:latin typeface="Calibri" pitchFamily="34" charset="0"/>
                <a:ea typeface="Calibri" pitchFamily="34" charset="-122"/>
                <a:cs typeface="Calibri" pitchFamily="34" charset="-120"/>
              </a:rPr>
              <a:t>案　1</a:t>
            </a:r>
            <a:endParaRPr lang="en-US" sz="1400" dirty="0"/>
          </a:p>
        </p:txBody>
      </p:sp>
      <p:sp>
        <p:nvSpPr>
          <p:cNvPr id="7" name="Text 5"/>
          <p:cNvSpPr/>
          <p:nvPr/>
        </p:nvSpPr>
        <p:spPr>
          <a:xfrm>
            <a:off x="4114800" y="1097280"/>
            <a:ext cx="4663440" cy="365760"/>
          </a:xfrm>
          <a:prstGeom prst="rect">
            <a:avLst/>
          </a:prstGeom>
          <a:noFill/>
          <a:ln/>
        </p:spPr>
        <p:txBody>
          <a:bodyPr wrap="square" lIns="0" tIns="0" rIns="0" bIns="0" rtlCol="0" anchor="ctr"/>
          <a:lstStyle/>
          <a:p>
            <a:pPr algn="l" indent="0" marL="0">
              <a:buNone/>
            </a:pPr>
            <a:r>
              <a:rPr lang="en-US" sz="1500" b="1" dirty="0">
                <a:solidFill>
                  <a:srgbClr val="1E3A5F"/>
                </a:solidFill>
                <a:latin typeface="Calibri" pitchFamily="34" charset="0"/>
                <a:ea typeface="Calibri" pitchFamily="34" charset="-122"/>
                <a:cs typeface="Calibri" pitchFamily="34" charset="-120"/>
              </a:rPr>
              <a:t>推奨理由</a:t>
            </a:r>
            <a:endParaRPr lang="en-US" sz="1500" dirty="0"/>
          </a:p>
        </p:txBody>
      </p:sp>
      <p:sp>
        <p:nvSpPr>
          <p:cNvPr id="8" name="Shape 6"/>
          <p:cNvSpPr/>
          <p:nvPr/>
        </p:nvSpPr>
        <p:spPr>
          <a:xfrm>
            <a:off x="4114800" y="1600200"/>
            <a:ext cx="4572000" cy="548640"/>
          </a:xfrm>
          <a:prstGeom prst="rect">
            <a:avLst/>
          </a:prstGeom>
          <a:solidFill>
            <a:srgbClr val="F7F9FC"/>
          </a:solidFill>
          <a:ln w="6350">
            <a:solidFill>
              <a:srgbClr val="E2E8F0"/>
            </a:solidFill>
            <a:prstDash val="solid"/>
          </a:ln>
        </p:spPr>
      </p:sp>
      <p:sp>
        <p:nvSpPr>
          <p:cNvPr id="9" name="Shape 7"/>
          <p:cNvSpPr/>
          <p:nvPr/>
        </p:nvSpPr>
        <p:spPr>
          <a:xfrm>
            <a:off x="4114800" y="1600200"/>
            <a:ext cx="36576" cy="548640"/>
          </a:xfrm>
          <a:prstGeom prst="rect">
            <a:avLst/>
          </a:prstGeom>
          <a:solidFill>
            <a:srgbClr val="2E86AB"/>
          </a:solidFill>
          <a:ln w="12700">
            <a:solidFill>
              <a:srgbClr val="2E86AB"/>
            </a:solidFill>
            <a:prstDash val="solid"/>
          </a:ln>
        </p:spPr>
      </p:sp>
      <p:sp>
        <p:nvSpPr>
          <p:cNvPr id="10" name="Text 8"/>
          <p:cNvSpPr/>
          <p:nvPr/>
        </p:nvSpPr>
        <p:spPr>
          <a:xfrm>
            <a:off x="4251960" y="1691640"/>
            <a:ext cx="4343400" cy="365760"/>
          </a:xfrm>
          <a:prstGeom prst="rect">
            <a:avLst/>
          </a:prstGeom>
          <a:noFill/>
          <a:ln/>
        </p:spPr>
        <p:txBody>
          <a:bodyPr wrap="square" lIns="0" tIns="0" rIns="0" bIns="0" rtlCol="0" anchor="ctr"/>
          <a:lstStyle/>
          <a:p>
            <a:pPr algn="l" indent="0" marL="0">
              <a:buNone/>
            </a:pPr>
            <a:r>
              <a:rPr lang="en-US" sz="1100" dirty="0">
                <a:solidFill>
                  <a:srgbClr val="1A1A1A"/>
                </a:solidFill>
                <a:latin typeface="Calibri" pitchFamily="34" charset="0"/>
                <a:ea typeface="Calibri" pitchFamily="34" charset="-122"/>
                <a:cs typeface="Calibri" pitchFamily="34" charset="-120"/>
              </a:rPr>
              <a:t>ブランドの核「森のぬくもり」「やわらかな安心感」を素直に表現</a:t>
            </a:r>
            <a:endParaRPr lang="en-US" sz="1100" dirty="0"/>
          </a:p>
        </p:txBody>
      </p:sp>
      <p:sp>
        <p:nvSpPr>
          <p:cNvPr id="11" name="Shape 9"/>
          <p:cNvSpPr/>
          <p:nvPr/>
        </p:nvSpPr>
        <p:spPr>
          <a:xfrm>
            <a:off x="4114800" y="2286000"/>
            <a:ext cx="4572000" cy="548640"/>
          </a:xfrm>
          <a:prstGeom prst="rect">
            <a:avLst/>
          </a:prstGeom>
          <a:solidFill>
            <a:srgbClr val="F7F9FC"/>
          </a:solidFill>
          <a:ln w="6350">
            <a:solidFill>
              <a:srgbClr val="E2E8F0"/>
            </a:solidFill>
            <a:prstDash val="solid"/>
          </a:ln>
        </p:spPr>
      </p:sp>
      <p:sp>
        <p:nvSpPr>
          <p:cNvPr id="12" name="Shape 10"/>
          <p:cNvSpPr/>
          <p:nvPr/>
        </p:nvSpPr>
        <p:spPr>
          <a:xfrm>
            <a:off x="4114800" y="2286000"/>
            <a:ext cx="36576" cy="548640"/>
          </a:xfrm>
          <a:prstGeom prst="rect">
            <a:avLst/>
          </a:prstGeom>
          <a:solidFill>
            <a:srgbClr val="2E86AB"/>
          </a:solidFill>
          <a:ln w="12700">
            <a:solidFill>
              <a:srgbClr val="2E86AB"/>
            </a:solidFill>
            <a:prstDash val="solid"/>
          </a:ln>
        </p:spPr>
      </p:sp>
      <p:sp>
        <p:nvSpPr>
          <p:cNvPr id="13" name="Text 11"/>
          <p:cNvSpPr/>
          <p:nvPr/>
        </p:nvSpPr>
        <p:spPr>
          <a:xfrm>
            <a:off x="4251960" y="2377440"/>
            <a:ext cx="4343400" cy="365760"/>
          </a:xfrm>
          <a:prstGeom prst="rect">
            <a:avLst/>
          </a:prstGeom>
          <a:noFill/>
          <a:ln/>
        </p:spPr>
        <p:txBody>
          <a:bodyPr wrap="square" lIns="0" tIns="0" rIns="0" bIns="0" rtlCol="0" anchor="ctr"/>
          <a:lstStyle/>
          <a:p>
            <a:pPr algn="l" indent="0" marL="0">
              <a:buNone/>
            </a:pPr>
            <a:r>
              <a:rPr lang="en-US" sz="1100" dirty="0">
                <a:solidFill>
                  <a:srgbClr val="1A1A1A"/>
                </a:solidFill>
                <a:latin typeface="Calibri" pitchFamily="34" charset="0"/>
                <a:ea typeface="Calibri" pitchFamily="34" charset="-122"/>
                <a:cs typeface="Calibri" pitchFamily="34" charset="-120"/>
              </a:rPr>
              <a:t>自然体の心地よさが、ターゲットの価値観と合致</a:t>
            </a:r>
            <a:endParaRPr lang="en-US" sz="1100" dirty="0"/>
          </a:p>
        </p:txBody>
      </p:sp>
      <p:sp>
        <p:nvSpPr>
          <p:cNvPr id="14" name="Shape 12"/>
          <p:cNvSpPr/>
          <p:nvPr/>
        </p:nvSpPr>
        <p:spPr>
          <a:xfrm>
            <a:off x="4114800" y="2971800"/>
            <a:ext cx="4572000" cy="548640"/>
          </a:xfrm>
          <a:prstGeom prst="rect">
            <a:avLst/>
          </a:prstGeom>
          <a:solidFill>
            <a:srgbClr val="F7F9FC"/>
          </a:solidFill>
          <a:ln w="6350">
            <a:solidFill>
              <a:srgbClr val="E2E8F0"/>
            </a:solidFill>
            <a:prstDash val="solid"/>
          </a:ln>
        </p:spPr>
      </p:sp>
      <p:sp>
        <p:nvSpPr>
          <p:cNvPr id="15" name="Shape 13"/>
          <p:cNvSpPr/>
          <p:nvPr/>
        </p:nvSpPr>
        <p:spPr>
          <a:xfrm>
            <a:off x="4114800" y="2971800"/>
            <a:ext cx="36576" cy="548640"/>
          </a:xfrm>
          <a:prstGeom prst="rect">
            <a:avLst/>
          </a:prstGeom>
          <a:solidFill>
            <a:srgbClr val="2E86AB"/>
          </a:solidFill>
          <a:ln w="12700">
            <a:solidFill>
              <a:srgbClr val="2E86AB"/>
            </a:solidFill>
            <a:prstDash val="solid"/>
          </a:ln>
        </p:spPr>
      </p:sp>
      <p:sp>
        <p:nvSpPr>
          <p:cNvPr id="16" name="Text 14"/>
          <p:cNvSpPr/>
          <p:nvPr/>
        </p:nvSpPr>
        <p:spPr>
          <a:xfrm>
            <a:off x="4251960" y="3063240"/>
            <a:ext cx="4343400" cy="365760"/>
          </a:xfrm>
          <a:prstGeom prst="rect">
            <a:avLst/>
          </a:prstGeom>
          <a:noFill/>
          <a:ln/>
        </p:spPr>
        <p:txBody>
          <a:bodyPr wrap="square" lIns="0" tIns="0" rIns="0" bIns="0" rtlCol="0" anchor="ctr"/>
          <a:lstStyle/>
          <a:p>
            <a:pPr algn="l" indent="0" marL="0">
              <a:buNone/>
            </a:pPr>
            <a:r>
              <a:rPr lang="en-US" sz="1100" dirty="0">
                <a:solidFill>
                  <a:srgbClr val="1A1A1A"/>
                </a:solidFill>
                <a:latin typeface="Calibri" pitchFamily="34" charset="0"/>
                <a:ea typeface="Calibri" pitchFamily="34" charset="-122"/>
                <a:cs typeface="Calibri" pitchFamily="34" charset="-120"/>
              </a:rPr>
              <a:t>紙もの・店頭ツール・パッケージへの横展開がしやすい</a:t>
            </a:r>
            <a:endParaRPr lang="en-US" sz="1100" dirty="0"/>
          </a:p>
        </p:txBody>
      </p:sp>
      <p:sp>
        <p:nvSpPr>
          <p:cNvPr id="17" name="Shape 15"/>
          <p:cNvSpPr/>
          <p:nvPr/>
        </p:nvSpPr>
        <p:spPr>
          <a:xfrm>
            <a:off x="4114800" y="3657600"/>
            <a:ext cx="4572000" cy="548640"/>
          </a:xfrm>
          <a:prstGeom prst="rect">
            <a:avLst/>
          </a:prstGeom>
          <a:solidFill>
            <a:srgbClr val="F7F9FC"/>
          </a:solidFill>
          <a:ln w="6350">
            <a:solidFill>
              <a:srgbClr val="E2E8F0"/>
            </a:solidFill>
            <a:prstDash val="solid"/>
          </a:ln>
        </p:spPr>
      </p:sp>
      <p:sp>
        <p:nvSpPr>
          <p:cNvPr id="18" name="Shape 16"/>
          <p:cNvSpPr/>
          <p:nvPr/>
        </p:nvSpPr>
        <p:spPr>
          <a:xfrm>
            <a:off x="4114800" y="3657600"/>
            <a:ext cx="36576" cy="548640"/>
          </a:xfrm>
          <a:prstGeom prst="rect">
            <a:avLst/>
          </a:prstGeom>
          <a:solidFill>
            <a:srgbClr val="2E86AB"/>
          </a:solidFill>
          <a:ln w="12700">
            <a:solidFill>
              <a:srgbClr val="2E86AB"/>
            </a:solidFill>
            <a:prstDash val="solid"/>
          </a:ln>
        </p:spPr>
      </p:sp>
      <p:sp>
        <p:nvSpPr>
          <p:cNvPr id="19" name="Text 17"/>
          <p:cNvSpPr/>
          <p:nvPr/>
        </p:nvSpPr>
        <p:spPr>
          <a:xfrm>
            <a:off x="4251960" y="3749040"/>
            <a:ext cx="4343400" cy="365760"/>
          </a:xfrm>
          <a:prstGeom prst="rect">
            <a:avLst/>
          </a:prstGeom>
          <a:noFill/>
          <a:ln/>
        </p:spPr>
        <p:txBody>
          <a:bodyPr wrap="square" lIns="0" tIns="0" rIns="0" bIns="0" rtlCol="0" anchor="ctr"/>
          <a:lstStyle/>
          <a:p>
            <a:pPr algn="l" indent="0" marL="0">
              <a:buNone/>
            </a:pPr>
            <a:r>
              <a:rPr lang="en-US" sz="1100" dirty="0">
                <a:solidFill>
                  <a:srgbClr val="1A1A1A"/>
                </a:solidFill>
                <a:latin typeface="Calibri" pitchFamily="34" charset="0"/>
                <a:ea typeface="Calibri" pitchFamily="34" charset="-122"/>
                <a:cs typeface="Calibri" pitchFamily="34" charset="-120"/>
              </a:rPr>
              <a:t>長く使える基調として育てやすく、ブランド資産になる</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sp>
      <p:sp>
        <p:nvSpPr>
          <p:cNvPr id="3" name="Text 1"/>
          <p:cNvSpPr/>
          <p:nvPr/>
        </p:nvSpPr>
        <p:spPr>
          <a:xfrm>
            <a:off x="457200" y="228600"/>
            <a:ext cx="82296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05　サイトマップ案比較</a:t>
            </a:r>
            <a:endParaRPr lang="en-US" sz="2400" dirty="0"/>
          </a:p>
        </p:txBody>
      </p:sp>
      <p:sp>
        <p:nvSpPr>
          <p:cNvPr id="4" name="Shape 2"/>
          <p:cNvSpPr/>
          <p:nvPr/>
        </p:nvSpPr>
        <p:spPr>
          <a:xfrm>
            <a:off x="365760" y="1143000"/>
            <a:ext cx="2606040" cy="3520440"/>
          </a:xfrm>
          <a:prstGeom prst="rect">
            <a:avLst/>
          </a:prstGeom>
          <a:solidFill>
            <a:srgbClr val="F7F9FC"/>
          </a:solidFill>
          <a:ln w="6350">
            <a:solidFill>
              <a:srgbClr val="E2E8F0"/>
            </a:solidFill>
            <a:prstDash val="solid"/>
          </a:ln>
        </p:spPr>
      </p:sp>
      <p:sp>
        <p:nvSpPr>
          <p:cNvPr id="5" name="Shape 3"/>
          <p:cNvSpPr/>
          <p:nvPr/>
        </p:nvSpPr>
        <p:spPr>
          <a:xfrm>
            <a:off x="365760" y="1143000"/>
            <a:ext cx="2606040" cy="685800"/>
          </a:xfrm>
          <a:prstGeom prst="rect">
            <a:avLst/>
          </a:prstGeom>
          <a:solidFill>
            <a:srgbClr val="8B6FAA"/>
          </a:solidFill>
          <a:ln w="12700">
            <a:solidFill>
              <a:srgbClr val="8B6FAA"/>
            </a:solidFill>
            <a:prstDash val="solid"/>
          </a:ln>
        </p:spPr>
      </p:sp>
      <p:sp>
        <p:nvSpPr>
          <p:cNvPr id="6" name="Text 4"/>
          <p:cNvSpPr/>
          <p:nvPr/>
        </p:nvSpPr>
        <p:spPr>
          <a:xfrm>
            <a:off x="365760" y="1207008"/>
            <a:ext cx="2606040" cy="25603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案1</a:t>
            </a:r>
            <a:endParaRPr lang="en-US" sz="1100" dirty="0"/>
          </a:p>
        </p:txBody>
      </p:sp>
      <p:sp>
        <p:nvSpPr>
          <p:cNvPr id="7" name="Text 5"/>
          <p:cNvSpPr/>
          <p:nvPr/>
        </p:nvSpPr>
        <p:spPr>
          <a:xfrm>
            <a:off x="365760" y="1463040"/>
            <a:ext cx="2606040"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世界観没入型</a:t>
            </a:r>
            <a:endParaRPr lang="en-US" sz="1300" dirty="0"/>
          </a:p>
        </p:txBody>
      </p:sp>
      <p:sp>
        <p:nvSpPr>
          <p:cNvPr id="8" name="Text 6"/>
          <p:cNvSpPr/>
          <p:nvPr/>
        </p:nvSpPr>
        <p:spPr>
          <a:xfrm>
            <a:off x="457200" y="2331720"/>
            <a:ext cx="2423160" cy="1280160"/>
          </a:xfrm>
          <a:prstGeom prst="rect">
            <a:avLst/>
          </a:prstGeom>
          <a:noFill/>
          <a:ln/>
        </p:spPr>
        <p:txBody>
          <a:bodyPr wrap="square" rtlCol="0" anchor="ctr"/>
          <a:lstStyle/>
          <a:p>
            <a:pPr algn="l" indent="0" marL="0">
              <a:buNone/>
            </a:pPr>
            <a:r>
              <a:rPr lang="en-US" sz="1100" dirty="0">
                <a:solidFill>
                  <a:srgbClr val="1A1A1A"/>
                </a:solidFill>
                <a:latin typeface="Calibri" pitchFamily="34" charset="0"/>
                <a:ea typeface="Calibri" pitchFamily="34" charset="-122"/>
                <a:cs typeface="Calibri" pitchFamily="34" charset="-120"/>
              </a:rPr>
              <a:t>物語を読み進めるように</a:t>
            </a:r>
            <a:endParaRPr lang="en-US" sz="1100" dirty="0"/>
          </a:p>
          <a:p>
            <a:pPr algn="l" indent="0" marL="0">
              <a:buNone/>
            </a:pPr>
            <a:r>
              <a:rPr lang="en-US" sz="1100" dirty="0">
                <a:solidFill>
                  <a:srgbClr val="1A1A1A"/>
                </a:solidFill>
                <a:latin typeface="Calibri" pitchFamily="34" charset="0"/>
                <a:ea typeface="Calibri" pitchFamily="34" charset="-122"/>
                <a:cs typeface="Calibri" pitchFamily="34" charset="-120"/>
              </a:rPr>
              <a:t>世界観へ没入していく構成</a:t>
            </a:r>
            <a:endParaRPr lang="en-US" sz="1100" dirty="0"/>
          </a:p>
        </p:txBody>
      </p:sp>
      <p:sp>
        <p:nvSpPr>
          <p:cNvPr id="9" name="Shape 7"/>
          <p:cNvSpPr/>
          <p:nvPr/>
        </p:nvSpPr>
        <p:spPr>
          <a:xfrm>
            <a:off x="3218688" y="1143000"/>
            <a:ext cx="2606040" cy="3520440"/>
          </a:xfrm>
          <a:prstGeom prst="rect">
            <a:avLst/>
          </a:prstGeom>
          <a:solidFill>
            <a:srgbClr val="F7F9FC"/>
          </a:solidFill>
          <a:ln w="6350">
            <a:solidFill>
              <a:srgbClr val="E2E8F0"/>
            </a:solidFill>
            <a:prstDash val="solid"/>
          </a:ln>
        </p:spPr>
      </p:sp>
      <p:sp>
        <p:nvSpPr>
          <p:cNvPr id="10" name="Shape 8"/>
          <p:cNvSpPr/>
          <p:nvPr/>
        </p:nvSpPr>
        <p:spPr>
          <a:xfrm>
            <a:off x="3218688" y="1143000"/>
            <a:ext cx="2606040" cy="685800"/>
          </a:xfrm>
          <a:prstGeom prst="rect">
            <a:avLst/>
          </a:prstGeom>
          <a:solidFill>
            <a:srgbClr val="C45B39"/>
          </a:solidFill>
          <a:ln w="12700">
            <a:solidFill>
              <a:srgbClr val="C45B39"/>
            </a:solidFill>
            <a:prstDash val="solid"/>
          </a:ln>
        </p:spPr>
      </p:sp>
      <p:sp>
        <p:nvSpPr>
          <p:cNvPr id="11" name="Text 9"/>
          <p:cNvSpPr/>
          <p:nvPr/>
        </p:nvSpPr>
        <p:spPr>
          <a:xfrm>
            <a:off x="3218688" y="1207008"/>
            <a:ext cx="2606040" cy="25603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案2</a:t>
            </a:r>
            <a:endParaRPr lang="en-US" sz="1100" dirty="0"/>
          </a:p>
        </p:txBody>
      </p:sp>
      <p:sp>
        <p:nvSpPr>
          <p:cNvPr id="12" name="Text 10"/>
          <p:cNvSpPr/>
          <p:nvPr/>
        </p:nvSpPr>
        <p:spPr>
          <a:xfrm>
            <a:off x="3218688" y="1463040"/>
            <a:ext cx="2606040"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ファン化促進型</a:t>
            </a:r>
            <a:endParaRPr lang="en-US" sz="1300" dirty="0"/>
          </a:p>
        </p:txBody>
      </p:sp>
      <p:sp>
        <p:nvSpPr>
          <p:cNvPr id="13" name="Text 11"/>
          <p:cNvSpPr/>
          <p:nvPr/>
        </p:nvSpPr>
        <p:spPr>
          <a:xfrm>
            <a:off x="3310128" y="2331720"/>
            <a:ext cx="2423160" cy="1280160"/>
          </a:xfrm>
          <a:prstGeom prst="rect">
            <a:avLst/>
          </a:prstGeom>
          <a:noFill/>
          <a:ln/>
        </p:spPr>
        <p:txBody>
          <a:bodyPr wrap="square" rtlCol="0" anchor="ctr"/>
          <a:lstStyle/>
          <a:p>
            <a:pPr algn="l" indent="0" marL="0">
              <a:buNone/>
            </a:pPr>
            <a:r>
              <a:rPr lang="en-US" sz="1100" dirty="0">
                <a:solidFill>
                  <a:srgbClr val="1A1A1A"/>
                </a:solidFill>
                <a:latin typeface="Calibri" pitchFamily="34" charset="0"/>
                <a:ea typeface="Calibri" pitchFamily="34" charset="-122"/>
                <a:cs typeface="Calibri" pitchFamily="34" charset="-120"/>
              </a:rPr>
              <a:t>動物スタッフや日常の出来事を</a:t>
            </a:r>
            <a:endParaRPr lang="en-US" sz="1100" dirty="0"/>
          </a:p>
          <a:p>
            <a:pPr algn="l" indent="0" marL="0">
              <a:buNone/>
            </a:pPr>
            <a:r>
              <a:rPr lang="en-US" sz="1100" dirty="0">
                <a:solidFill>
                  <a:srgbClr val="1A1A1A"/>
                </a:solidFill>
                <a:latin typeface="Calibri" pitchFamily="34" charset="0"/>
                <a:ea typeface="Calibri" pitchFamily="34" charset="-122"/>
                <a:cs typeface="Calibri" pitchFamily="34" charset="-120"/>
              </a:rPr>
              <a:t>中心に親しみとファン化を促す構成</a:t>
            </a:r>
            <a:endParaRPr lang="en-US" sz="1100" dirty="0"/>
          </a:p>
        </p:txBody>
      </p:sp>
      <p:sp>
        <p:nvSpPr>
          <p:cNvPr id="14" name="Shape 12"/>
          <p:cNvSpPr/>
          <p:nvPr/>
        </p:nvSpPr>
        <p:spPr>
          <a:xfrm>
            <a:off x="6071616" y="1143000"/>
            <a:ext cx="2606040" cy="3520440"/>
          </a:xfrm>
          <a:prstGeom prst="rect">
            <a:avLst/>
          </a:prstGeom>
          <a:solidFill>
            <a:srgbClr val="F7F9FC"/>
          </a:solidFill>
          <a:ln w="19050">
            <a:solidFill>
              <a:srgbClr val="2E86AB"/>
            </a:solidFill>
            <a:prstDash val="solid"/>
          </a:ln>
        </p:spPr>
      </p:sp>
      <p:sp>
        <p:nvSpPr>
          <p:cNvPr id="15" name="Shape 13"/>
          <p:cNvSpPr/>
          <p:nvPr/>
        </p:nvSpPr>
        <p:spPr>
          <a:xfrm>
            <a:off x="6071616" y="1143000"/>
            <a:ext cx="2606040" cy="685800"/>
          </a:xfrm>
          <a:prstGeom prst="rect">
            <a:avLst/>
          </a:prstGeom>
          <a:solidFill>
            <a:srgbClr val="2E86AB"/>
          </a:solidFill>
          <a:ln w="12700">
            <a:solidFill>
              <a:srgbClr val="2E86AB"/>
            </a:solidFill>
            <a:prstDash val="solid"/>
          </a:ln>
        </p:spPr>
      </p:sp>
      <p:sp>
        <p:nvSpPr>
          <p:cNvPr id="16" name="Text 14"/>
          <p:cNvSpPr/>
          <p:nvPr/>
        </p:nvSpPr>
        <p:spPr>
          <a:xfrm>
            <a:off x="6071616" y="1207008"/>
            <a:ext cx="2606040" cy="25603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案3</a:t>
            </a:r>
            <a:endParaRPr lang="en-US" sz="1100" dirty="0"/>
          </a:p>
        </p:txBody>
      </p:sp>
      <p:sp>
        <p:nvSpPr>
          <p:cNvPr id="17" name="Text 15"/>
          <p:cNvSpPr/>
          <p:nvPr/>
        </p:nvSpPr>
        <p:spPr>
          <a:xfrm>
            <a:off x="6071616" y="1463040"/>
            <a:ext cx="2606040"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実用・休息特化型</a:t>
            </a:r>
            <a:endParaRPr lang="en-US" sz="1300" dirty="0"/>
          </a:p>
        </p:txBody>
      </p:sp>
      <p:sp>
        <p:nvSpPr>
          <p:cNvPr id="18" name="Shape 16"/>
          <p:cNvSpPr/>
          <p:nvPr/>
        </p:nvSpPr>
        <p:spPr>
          <a:xfrm>
            <a:off x="6620256" y="1920240"/>
            <a:ext cx="1508760" cy="274320"/>
          </a:xfrm>
          <a:prstGeom prst="rect">
            <a:avLst/>
          </a:prstGeom>
          <a:solidFill>
            <a:srgbClr val="2E86AB"/>
          </a:solidFill>
          <a:ln w="12700">
            <a:solidFill>
              <a:srgbClr val="2E86AB"/>
            </a:solidFill>
            <a:prstDash val="solid"/>
          </a:ln>
        </p:spPr>
      </p:sp>
      <p:sp>
        <p:nvSpPr>
          <p:cNvPr id="19" name="Text 17"/>
          <p:cNvSpPr/>
          <p:nvPr/>
        </p:nvSpPr>
        <p:spPr>
          <a:xfrm>
            <a:off x="6620256" y="1947672"/>
            <a:ext cx="150876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一次推奨</a:t>
            </a:r>
            <a:endParaRPr lang="en-US" sz="1100" dirty="0"/>
          </a:p>
        </p:txBody>
      </p:sp>
      <p:sp>
        <p:nvSpPr>
          <p:cNvPr id="20" name="Text 18"/>
          <p:cNvSpPr/>
          <p:nvPr/>
        </p:nvSpPr>
        <p:spPr>
          <a:xfrm>
            <a:off x="6163056" y="2331720"/>
            <a:ext cx="2423160" cy="1280160"/>
          </a:xfrm>
          <a:prstGeom prst="rect">
            <a:avLst/>
          </a:prstGeom>
          <a:noFill/>
          <a:ln/>
        </p:spPr>
        <p:txBody>
          <a:bodyPr wrap="square" rtlCol="0" anchor="ctr"/>
          <a:lstStyle/>
          <a:p>
            <a:pPr algn="l" indent="0" marL="0">
              <a:buNone/>
            </a:pPr>
            <a:r>
              <a:rPr lang="en-US" sz="1100" dirty="0">
                <a:solidFill>
                  <a:srgbClr val="1A1A1A"/>
                </a:solidFill>
                <a:latin typeface="Calibri" pitchFamily="34" charset="0"/>
                <a:ea typeface="Calibri" pitchFamily="34" charset="-122"/>
                <a:cs typeface="Calibri" pitchFamily="34" charset="-120"/>
              </a:rPr>
              <a:t>初めて来る方にも迷いにくく</a:t>
            </a:r>
            <a:endParaRPr lang="en-US" sz="1100" dirty="0"/>
          </a:p>
          <a:p>
            <a:pPr algn="l" indent="0" marL="0">
              <a:buNone/>
            </a:pPr>
            <a:r>
              <a:rPr lang="en-US" sz="1100" dirty="0">
                <a:solidFill>
                  <a:srgbClr val="1A1A1A"/>
                </a:solidFill>
                <a:latin typeface="Calibri" pitchFamily="34" charset="0"/>
                <a:ea typeface="Calibri" pitchFamily="34" charset="-122"/>
                <a:cs typeface="Calibri" pitchFamily="34" charset="-120"/>
              </a:rPr>
              <a:t>必要情報へやさしく導く構成</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05　推奨方針の統合</a:t>
            </a:r>
            <a:endParaRPr lang="en-US" sz="2400" dirty="0"/>
          </a:p>
        </p:txBody>
      </p:sp>
      <p:sp>
        <p:nvSpPr>
          <p:cNvPr id="3" name="Shape 1"/>
          <p:cNvSpPr/>
          <p:nvPr/>
        </p:nvSpPr>
        <p:spPr>
          <a:xfrm>
            <a:off x="365760" y="1005840"/>
            <a:ext cx="3840480" cy="2011680"/>
          </a:xfrm>
          <a:prstGeom prst="rect">
            <a:avLst/>
          </a:prstGeom>
          <a:solidFill>
            <a:srgbClr val="2E86AB"/>
          </a:solidFill>
          <a:ln w="12700">
            <a:solidFill>
              <a:srgbClr val="2E86AB"/>
            </a:solidFill>
            <a:prstDash val="solid"/>
          </a:ln>
        </p:spPr>
      </p:sp>
      <p:sp>
        <p:nvSpPr>
          <p:cNvPr id="4" name="Text 2"/>
          <p:cNvSpPr/>
          <p:nvPr/>
        </p:nvSpPr>
        <p:spPr>
          <a:xfrm>
            <a:off x="457200" y="1097280"/>
            <a:ext cx="3657600" cy="365760"/>
          </a:xfrm>
          <a:prstGeom prst="rect">
            <a:avLst/>
          </a:prstGeom>
          <a:noFill/>
          <a:ln/>
        </p:spPr>
        <p:txBody>
          <a:bodyPr wrap="square" lIns="0" tIns="0" rIns="0" bIns="0" rtlCol="0" anchor="ctr"/>
          <a:lstStyle/>
          <a:p>
            <a:pPr algn="ctr" indent="0" marL="0">
              <a:buNone/>
            </a:pPr>
            <a:r>
              <a:rPr lang="en-US" sz="1200" dirty="0">
                <a:solidFill>
                  <a:srgbClr val="C8E0EC"/>
                </a:solidFill>
                <a:latin typeface="Calibri" pitchFamily="34" charset="0"/>
                <a:ea typeface="Calibri" pitchFamily="34" charset="-122"/>
                <a:cs typeface="Calibri" pitchFamily="34" charset="-120"/>
              </a:rPr>
              <a:t>ビジュアル</a:t>
            </a:r>
            <a:endParaRPr lang="en-US" sz="1200" dirty="0"/>
          </a:p>
        </p:txBody>
      </p:sp>
      <p:sp>
        <p:nvSpPr>
          <p:cNvPr id="5" name="Text 3"/>
          <p:cNvSpPr/>
          <p:nvPr/>
        </p:nvSpPr>
        <p:spPr>
          <a:xfrm>
            <a:off x="457200" y="1508760"/>
            <a:ext cx="3657600" cy="82296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案1</a:t>
            </a:r>
            <a:endParaRPr lang="en-US" sz="2000" dirty="0"/>
          </a:p>
          <a:p>
            <a:pPr algn="ctr" indent="0" marL="0">
              <a:buNone/>
            </a:pPr>
            <a:r>
              <a:rPr lang="en-US" sz="2000" b="1" dirty="0">
                <a:solidFill>
                  <a:srgbClr val="FFFFFF"/>
                </a:solidFill>
                <a:latin typeface="Calibri" pitchFamily="34" charset="0"/>
                <a:ea typeface="Calibri" pitchFamily="34" charset="-122"/>
                <a:cs typeface="Calibri" pitchFamily="34" charset="-120"/>
              </a:rPr>
              <a:t>"森の木漏れ日"</a:t>
            </a:r>
            <a:endParaRPr lang="en-US" sz="2000" dirty="0"/>
          </a:p>
        </p:txBody>
      </p:sp>
      <p:sp>
        <p:nvSpPr>
          <p:cNvPr id="6" name="Text 4"/>
          <p:cNvSpPr/>
          <p:nvPr/>
        </p:nvSpPr>
        <p:spPr>
          <a:xfrm>
            <a:off x="4297680" y="1554480"/>
            <a:ext cx="548640" cy="64008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a:t>
            </a:r>
            <a:endParaRPr lang="en-US" sz="3200" dirty="0"/>
          </a:p>
        </p:txBody>
      </p:sp>
      <p:sp>
        <p:nvSpPr>
          <p:cNvPr id="7" name="Shape 5"/>
          <p:cNvSpPr/>
          <p:nvPr/>
        </p:nvSpPr>
        <p:spPr>
          <a:xfrm>
            <a:off x="4937760" y="1005840"/>
            <a:ext cx="3840480" cy="2011680"/>
          </a:xfrm>
          <a:prstGeom prst="rect">
            <a:avLst/>
          </a:prstGeom>
          <a:solidFill>
            <a:srgbClr val="1A527A"/>
          </a:solidFill>
          <a:ln w="12700">
            <a:solidFill>
              <a:srgbClr val="1A527A"/>
            </a:solidFill>
            <a:prstDash val="solid"/>
          </a:ln>
        </p:spPr>
      </p:sp>
      <p:sp>
        <p:nvSpPr>
          <p:cNvPr id="8" name="Text 6"/>
          <p:cNvSpPr/>
          <p:nvPr/>
        </p:nvSpPr>
        <p:spPr>
          <a:xfrm>
            <a:off x="5029200" y="1097280"/>
            <a:ext cx="3657600" cy="365760"/>
          </a:xfrm>
          <a:prstGeom prst="rect">
            <a:avLst/>
          </a:prstGeom>
          <a:noFill/>
          <a:ln/>
        </p:spPr>
        <p:txBody>
          <a:bodyPr wrap="square" lIns="0" tIns="0" rIns="0" bIns="0" rtlCol="0" anchor="ctr"/>
          <a:lstStyle/>
          <a:p>
            <a:pPr algn="ctr" indent="0" marL="0">
              <a:buNone/>
            </a:pPr>
            <a:r>
              <a:rPr lang="en-US" sz="1200" dirty="0">
                <a:solidFill>
                  <a:srgbClr val="A8C4D8"/>
                </a:solidFill>
                <a:latin typeface="Calibri" pitchFamily="34" charset="0"/>
                <a:ea typeface="Calibri" pitchFamily="34" charset="-122"/>
                <a:cs typeface="Calibri" pitchFamily="34" charset="-120"/>
              </a:rPr>
              <a:t>情報設計</a:t>
            </a:r>
            <a:endParaRPr lang="en-US" sz="1200" dirty="0"/>
          </a:p>
        </p:txBody>
      </p:sp>
      <p:sp>
        <p:nvSpPr>
          <p:cNvPr id="9" name="Text 7"/>
          <p:cNvSpPr/>
          <p:nvPr/>
        </p:nvSpPr>
        <p:spPr>
          <a:xfrm>
            <a:off x="5029200" y="1508760"/>
            <a:ext cx="3657600" cy="82296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案3</a:t>
            </a:r>
            <a:endParaRPr lang="en-US" sz="2000" dirty="0"/>
          </a:p>
          <a:p>
            <a:pPr algn="ctr" indent="0" marL="0">
              <a:buNone/>
            </a:pPr>
            <a:r>
              <a:rPr lang="en-US" sz="2000" b="1" dirty="0">
                <a:solidFill>
                  <a:srgbClr val="FFFFFF"/>
                </a:solidFill>
                <a:latin typeface="Calibri" pitchFamily="34" charset="0"/>
                <a:ea typeface="Calibri" pitchFamily="34" charset="-122"/>
                <a:cs typeface="Calibri" pitchFamily="34" charset="-120"/>
              </a:rPr>
              <a:t>"実用・休息特化型"</a:t>
            </a:r>
            <a:endParaRPr lang="en-US" sz="2000" dirty="0"/>
          </a:p>
        </p:txBody>
      </p:sp>
      <p:sp>
        <p:nvSpPr>
          <p:cNvPr id="10" name="Shape 8"/>
          <p:cNvSpPr/>
          <p:nvPr/>
        </p:nvSpPr>
        <p:spPr>
          <a:xfrm>
            <a:off x="365760" y="3246120"/>
            <a:ext cx="8412480" cy="1508760"/>
          </a:xfrm>
          <a:prstGeom prst="rect">
            <a:avLst/>
          </a:prstGeom>
          <a:solidFill>
            <a:srgbClr val="FFFFFF"/>
          </a:solidFill>
          <a:ln w="12700">
            <a:solidFill>
              <a:srgbClr val="2E86AB"/>
            </a:solidFill>
            <a:prstDash val="solid"/>
          </a:ln>
        </p:spPr>
      </p:sp>
      <p:sp>
        <p:nvSpPr>
          <p:cNvPr id="11" name="Text 9"/>
          <p:cNvSpPr/>
          <p:nvPr/>
        </p:nvSpPr>
        <p:spPr>
          <a:xfrm>
            <a:off x="548640" y="3337560"/>
            <a:ext cx="8046720" cy="365760"/>
          </a:xfrm>
          <a:prstGeom prst="rect">
            <a:avLst/>
          </a:prstGeom>
          <a:noFill/>
          <a:ln/>
        </p:spPr>
        <p:txBody>
          <a:bodyPr wrap="square" lIns="0" tIns="0" rIns="0" bIns="0" rtlCol="0" anchor="ctr"/>
          <a:lstStyle/>
          <a:p>
            <a:pPr algn="ctr" indent="0" marL="0">
              <a:buNone/>
            </a:pPr>
            <a:r>
              <a:rPr lang="en-US" sz="1500" b="1" dirty="0">
                <a:solidFill>
                  <a:srgbClr val="2E86AB"/>
                </a:solidFill>
                <a:latin typeface="Calibri" pitchFamily="34" charset="0"/>
                <a:ea typeface="Calibri" pitchFamily="34" charset="-122"/>
                <a:cs typeface="Calibri" pitchFamily="34" charset="-120"/>
              </a:rPr>
              <a:t>世界観と使いやすさの両立</a:t>
            </a:r>
            <a:endParaRPr lang="en-US" sz="1500" dirty="0"/>
          </a:p>
        </p:txBody>
      </p:sp>
      <p:sp>
        <p:nvSpPr>
          <p:cNvPr id="12" name="Text 10"/>
          <p:cNvSpPr/>
          <p:nvPr/>
        </p:nvSpPr>
        <p:spPr>
          <a:xfrm>
            <a:off x="548640" y="3749040"/>
            <a:ext cx="8046720" cy="822960"/>
          </a:xfrm>
          <a:prstGeom prst="rect">
            <a:avLst/>
          </a:prstGeom>
          <a:noFill/>
          <a:ln/>
        </p:spPr>
        <p:txBody>
          <a:bodyPr wrap="square"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見た目ではぬくもりや余白を感じさせながら、構造としては迷わせず、急かさず、</a:t>
            </a:r>
            <a:endParaRPr lang="en-US" sz="1200" dirty="0"/>
          </a:p>
          <a:p>
            <a:pPr algn="ctr" indent="0" marL="0">
              <a:buNone/>
            </a:pPr>
            <a:r>
              <a:rPr lang="en-US" sz="1200" dirty="0">
                <a:solidFill>
                  <a:srgbClr val="1A1A1A"/>
                </a:solidFill>
                <a:latin typeface="Calibri" pitchFamily="34" charset="0"/>
                <a:ea typeface="Calibri" pitchFamily="34" charset="-122"/>
                <a:cs typeface="Calibri" pitchFamily="34" charset="-120"/>
              </a:rPr>
              <a:t>安心して必要情報にたどり着けるサイト。これが最も効果的な方針と考えます。</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sp>
      <p:sp>
        <p:nvSpPr>
          <p:cNvPr id="3" name="Text 1"/>
          <p:cNvSpPr/>
          <p:nvPr/>
        </p:nvSpPr>
        <p:spPr>
          <a:xfrm>
            <a:off x="457200" y="228600"/>
            <a:ext cx="82296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06　主要ページ構成案</a:t>
            </a:r>
            <a:endParaRPr lang="en-US" sz="2400" dirty="0"/>
          </a:p>
        </p:txBody>
      </p:sp>
      <p:sp>
        <p:nvSpPr>
          <p:cNvPr id="4" name="Shape 2"/>
          <p:cNvSpPr/>
          <p:nvPr/>
        </p:nvSpPr>
        <p:spPr>
          <a:xfrm>
            <a:off x="365760" y="1143000"/>
            <a:ext cx="4114800" cy="1051560"/>
          </a:xfrm>
          <a:prstGeom prst="rect">
            <a:avLst/>
          </a:prstGeom>
          <a:solidFill>
            <a:srgbClr val="F7F9FC"/>
          </a:solidFill>
          <a:ln w="6350">
            <a:solidFill>
              <a:srgbClr val="E2E8F0"/>
            </a:solidFill>
            <a:prstDash val="solid"/>
          </a:ln>
        </p:spPr>
      </p:sp>
      <p:sp>
        <p:nvSpPr>
          <p:cNvPr id="5" name="Shape 3"/>
          <p:cNvSpPr/>
          <p:nvPr/>
        </p:nvSpPr>
        <p:spPr>
          <a:xfrm>
            <a:off x="365760" y="1143000"/>
            <a:ext cx="64008" cy="1051560"/>
          </a:xfrm>
          <a:prstGeom prst="rect">
            <a:avLst/>
          </a:prstGeom>
          <a:solidFill>
            <a:srgbClr val="2E86AB"/>
          </a:solidFill>
          <a:ln w="12700">
            <a:solidFill>
              <a:srgbClr val="2E86AB"/>
            </a:solidFill>
            <a:prstDash val="solid"/>
          </a:ln>
        </p:spPr>
      </p:sp>
      <p:sp>
        <p:nvSpPr>
          <p:cNvPr id="6" name="Text 4"/>
          <p:cNvSpPr/>
          <p:nvPr/>
        </p:nvSpPr>
        <p:spPr>
          <a:xfrm>
            <a:off x="530352" y="1252728"/>
            <a:ext cx="3840480" cy="347472"/>
          </a:xfrm>
          <a:prstGeom prst="rect">
            <a:avLst/>
          </a:prstGeom>
          <a:noFill/>
          <a:ln/>
        </p:spPr>
        <p:txBody>
          <a:bodyPr wrap="square" lIns="0" tIns="0" rIns="0" bIns="0"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TOP</a:t>
            </a:r>
            <a:endParaRPr lang="en-US" sz="1300" dirty="0"/>
          </a:p>
        </p:txBody>
      </p:sp>
      <p:sp>
        <p:nvSpPr>
          <p:cNvPr id="7" name="Text 5"/>
          <p:cNvSpPr/>
          <p:nvPr/>
        </p:nvSpPr>
        <p:spPr>
          <a:xfrm>
            <a:off x="530352" y="1645920"/>
            <a:ext cx="3840480" cy="457200"/>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ブランドの空気感と現在の来店動機をつくる</a:t>
            </a:r>
            <a:endParaRPr lang="en-US" sz="1100" dirty="0"/>
          </a:p>
        </p:txBody>
      </p:sp>
      <p:sp>
        <p:nvSpPr>
          <p:cNvPr id="8" name="Shape 6"/>
          <p:cNvSpPr/>
          <p:nvPr/>
        </p:nvSpPr>
        <p:spPr>
          <a:xfrm>
            <a:off x="4846320" y="1143000"/>
            <a:ext cx="4114800" cy="1051560"/>
          </a:xfrm>
          <a:prstGeom prst="rect">
            <a:avLst/>
          </a:prstGeom>
          <a:solidFill>
            <a:srgbClr val="F7F9FC"/>
          </a:solidFill>
          <a:ln w="6350">
            <a:solidFill>
              <a:srgbClr val="E2E8F0"/>
            </a:solidFill>
            <a:prstDash val="solid"/>
          </a:ln>
        </p:spPr>
      </p:sp>
      <p:sp>
        <p:nvSpPr>
          <p:cNvPr id="9" name="Shape 7"/>
          <p:cNvSpPr/>
          <p:nvPr/>
        </p:nvSpPr>
        <p:spPr>
          <a:xfrm>
            <a:off x="4846320" y="1143000"/>
            <a:ext cx="64008" cy="1051560"/>
          </a:xfrm>
          <a:prstGeom prst="rect">
            <a:avLst/>
          </a:prstGeom>
          <a:solidFill>
            <a:srgbClr val="5B9BD5"/>
          </a:solidFill>
          <a:ln w="12700">
            <a:solidFill>
              <a:srgbClr val="5B9BD5"/>
            </a:solidFill>
            <a:prstDash val="solid"/>
          </a:ln>
        </p:spPr>
      </p:sp>
      <p:sp>
        <p:nvSpPr>
          <p:cNvPr id="10" name="Text 8"/>
          <p:cNvSpPr/>
          <p:nvPr/>
        </p:nvSpPr>
        <p:spPr>
          <a:xfrm>
            <a:off x="5010912" y="1252728"/>
            <a:ext cx="3840480" cy="347472"/>
          </a:xfrm>
          <a:prstGeom prst="rect">
            <a:avLst/>
          </a:prstGeom>
          <a:noFill/>
          <a:ln/>
        </p:spPr>
        <p:txBody>
          <a:bodyPr wrap="square" lIns="0" tIns="0" rIns="0" bIns="0"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はじめての方へ</a:t>
            </a:r>
            <a:endParaRPr lang="en-US" sz="1300" dirty="0"/>
          </a:p>
        </p:txBody>
      </p:sp>
      <p:sp>
        <p:nvSpPr>
          <p:cNvPr id="11" name="Text 9"/>
          <p:cNvSpPr/>
          <p:nvPr/>
        </p:nvSpPr>
        <p:spPr>
          <a:xfrm>
            <a:off x="5010912" y="1645920"/>
            <a:ext cx="3840480" cy="457200"/>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店の過ごし方やルールをやさしく案内</a:t>
            </a:r>
            <a:endParaRPr lang="en-US" sz="1100" dirty="0"/>
          </a:p>
        </p:txBody>
      </p:sp>
      <p:sp>
        <p:nvSpPr>
          <p:cNvPr id="12" name="Shape 10"/>
          <p:cNvSpPr/>
          <p:nvPr/>
        </p:nvSpPr>
        <p:spPr>
          <a:xfrm>
            <a:off x="365760" y="2423160"/>
            <a:ext cx="4114800" cy="1051560"/>
          </a:xfrm>
          <a:prstGeom prst="rect">
            <a:avLst/>
          </a:prstGeom>
          <a:solidFill>
            <a:srgbClr val="F7F9FC"/>
          </a:solidFill>
          <a:ln w="6350">
            <a:solidFill>
              <a:srgbClr val="E2E8F0"/>
            </a:solidFill>
            <a:prstDash val="solid"/>
          </a:ln>
        </p:spPr>
      </p:sp>
      <p:sp>
        <p:nvSpPr>
          <p:cNvPr id="13" name="Shape 11"/>
          <p:cNvSpPr/>
          <p:nvPr/>
        </p:nvSpPr>
        <p:spPr>
          <a:xfrm>
            <a:off x="365760" y="2423160"/>
            <a:ext cx="64008" cy="1051560"/>
          </a:xfrm>
          <a:prstGeom prst="rect">
            <a:avLst/>
          </a:prstGeom>
          <a:solidFill>
            <a:srgbClr val="70AD47"/>
          </a:solidFill>
          <a:ln w="12700">
            <a:solidFill>
              <a:srgbClr val="70AD47"/>
            </a:solidFill>
            <a:prstDash val="solid"/>
          </a:ln>
        </p:spPr>
      </p:sp>
      <p:sp>
        <p:nvSpPr>
          <p:cNvPr id="14" name="Text 12"/>
          <p:cNvSpPr/>
          <p:nvPr/>
        </p:nvSpPr>
        <p:spPr>
          <a:xfrm>
            <a:off x="530352" y="2532888"/>
            <a:ext cx="3840480" cy="347472"/>
          </a:xfrm>
          <a:prstGeom prst="rect">
            <a:avLst/>
          </a:prstGeom>
          <a:noFill/>
          <a:ln/>
        </p:spPr>
        <p:txBody>
          <a:bodyPr wrap="square" lIns="0" tIns="0" rIns="0" bIns="0"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メニュー</a:t>
            </a:r>
            <a:endParaRPr lang="en-US" sz="1300" dirty="0"/>
          </a:p>
        </p:txBody>
      </p:sp>
      <p:sp>
        <p:nvSpPr>
          <p:cNvPr id="15" name="Text 13"/>
          <p:cNvSpPr/>
          <p:nvPr/>
        </p:nvSpPr>
        <p:spPr>
          <a:xfrm>
            <a:off x="530352" y="2926080"/>
            <a:ext cx="3840480" cy="457200"/>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看板商品や気まぐれ感を魅力として見せる</a:t>
            </a:r>
            <a:endParaRPr lang="en-US" sz="1100" dirty="0"/>
          </a:p>
        </p:txBody>
      </p:sp>
      <p:sp>
        <p:nvSpPr>
          <p:cNvPr id="16" name="Shape 14"/>
          <p:cNvSpPr/>
          <p:nvPr/>
        </p:nvSpPr>
        <p:spPr>
          <a:xfrm>
            <a:off x="4846320" y="2423160"/>
            <a:ext cx="4114800" cy="1051560"/>
          </a:xfrm>
          <a:prstGeom prst="rect">
            <a:avLst/>
          </a:prstGeom>
          <a:solidFill>
            <a:srgbClr val="F7F9FC"/>
          </a:solidFill>
          <a:ln w="6350">
            <a:solidFill>
              <a:srgbClr val="E2E8F0"/>
            </a:solidFill>
            <a:prstDash val="solid"/>
          </a:ln>
        </p:spPr>
      </p:sp>
      <p:sp>
        <p:nvSpPr>
          <p:cNvPr id="17" name="Shape 15"/>
          <p:cNvSpPr/>
          <p:nvPr/>
        </p:nvSpPr>
        <p:spPr>
          <a:xfrm>
            <a:off x="4846320" y="2423160"/>
            <a:ext cx="64008" cy="1051560"/>
          </a:xfrm>
          <a:prstGeom prst="rect">
            <a:avLst/>
          </a:prstGeom>
          <a:solidFill>
            <a:srgbClr val="ED7D31"/>
          </a:solidFill>
          <a:ln w="12700">
            <a:solidFill>
              <a:srgbClr val="ED7D31"/>
            </a:solidFill>
            <a:prstDash val="solid"/>
          </a:ln>
        </p:spPr>
      </p:sp>
      <p:sp>
        <p:nvSpPr>
          <p:cNvPr id="18" name="Text 16"/>
          <p:cNvSpPr/>
          <p:nvPr/>
        </p:nvSpPr>
        <p:spPr>
          <a:xfrm>
            <a:off x="5010912" y="2532888"/>
            <a:ext cx="3840480" cy="347472"/>
          </a:xfrm>
          <a:prstGeom prst="rect">
            <a:avLst/>
          </a:prstGeom>
          <a:noFill/>
          <a:ln/>
        </p:spPr>
        <p:txBody>
          <a:bodyPr wrap="square" lIns="0" tIns="0" rIns="0" bIns="0"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店内・設備案内</a:t>
            </a:r>
            <a:endParaRPr lang="en-US" sz="1300" dirty="0"/>
          </a:p>
        </p:txBody>
      </p:sp>
      <p:sp>
        <p:nvSpPr>
          <p:cNvPr id="19" name="Text 17"/>
          <p:cNvSpPr/>
          <p:nvPr/>
        </p:nvSpPr>
        <p:spPr>
          <a:xfrm>
            <a:off x="5010912" y="2926080"/>
            <a:ext cx="3840480" cy="457200"/>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席の特徴や過ごし方を具体的に伝える</a:t>
            </a:r>
            <a:endParaRPr lang="en-US" sz="1100" dirty="0"/>
          </a:p>
        </p:txBody>
      </p:sp>
      <p:sp>
        <p:nvSpPr>
          <p:cNvPr id="20" name="Shape 18"/>
          <p:cNvSpPr/>
          <p:nvPr/>
        </p:nvSpPr>
        <p:spPr>
          <a:xfrm>
            <a:off x="365760" y="3703320"/>
            <a:ext cx="4114800" cy="1051560"/>
          </a:xfrm>
          <a:prstGeom prst="rect">
            <a:avLst/>
          </a:prstGeom>
          <a:solidFill>
            <a:srgbClr val="F7F9FC"/>
          </a:solidFill>
          <a:ln w="6350">
            <a:solidFill>
              <a:srgbClr val="E2E8F0"/>
            </a:solidFill>
            <a:prstDash val="solid"/>
          </a:ln>
        </p:spPr>
      </p:sp>
      <p:sp>
        <p:nvSpPr>
          <p:cNvPr id="21" name="Shape 19"/>
          <p:cNvSpPr/>
          <p:nvPr/>
        </p:nvSpPr>
        <p:spPr>
          <a:xfrm>
            <a:off x="365760" y="3703320"/>
            <a:ext cx="64008" cy="1051560"/>
          </a:xfrm>
          <a:prstGeom prst="rect">
            <a:avLst/>
          </a:prstGeom>
          <a:solidFill>
            <a:srgbClr val="FFC000"/>
          </a:solidFill>
          <a:ln w="12700">
            <a:solidFill>
              <a:srgbClr val="FFC000"/>
            </a:solidFill>
            <a:prstDash val="solid"/>
          </a:ln>
        </p:spPr>
      </p:sp>
      <p:sp>
        <p:nvSpPr>
          <p:cNvPr id="22" name="Text 20"/>
          <p:cNvSpPr/>
          <p:nvPr/>
        </p:nvSpPr>
        <p:spPr>
          <a:xfrm>
            <a:off x="530352" y="3813048"/>
            <a:ext cx="3840480" cy="347472"/>
          </a:xfrm>
          <a:prstGeom prst="rect">
            <a:avLst/>
          </a:prstGeom>
          <a:noFill/>
          <a:ln/>
        </p:spPr>
        <p:txBody>
          <a:bodyPr wrap="square" lIns="0" tIns="0" rIns="0" bIns="0"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アクセス・営業情報</a:t>
            </a:r>
            <a:endParaRPr lang="en-US" sz="1300" dirty="0"/>
          </a:p>
        </p:txBody>
      </p:sp>
      <p:sp>
        <p:nvSpPr>
          <p:cNvPr id="23" name="Text 21"/>
          <p:cNvSpPr/>
          <p:nvPr/>
        </p:nvSpPr>
        <p:spPr>
          <a:xfrm>
            <a:off x="530352" y="4206240"/>
            <a:ext cx="3840480" cy="457200"/>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迷わず来店できる安心感を支える</a:t>
            </a:r>
            <a:endParaRPr lang="en-US" sz="1100" dirty="0"/>
          </a:p>
        </p:txBody>
      </p:sp>
      <p:sp>
        <p:nvSpPr>
          <p:cNvPr id="24" name="Shape 22"/>
          <p:cNvSpPr/>
          <p:nvPr/>
        </p:nvSpPr>
        <p:spPr>
          <a:xfrm>
            <a:off x="4846320" y="3703320"/>
            <a:ext cx="4114800" cy="1051560"/>
          </a:xfrm>
          <a:prstGeom prst="rect">
            <a:avLst/>
          </a:prstGeom>
          <a:solidFill>
            <a:srgbClr val="F7F9FC"/>
          </a:solidFill>
          <a:ln w="6350">
            <a:solidFill>
              <a:srgbClr val="E2E8F0"/>
            </a:solidFill>
            <a:prstDash val="solid"/>
          </a:ln>
        </p:spPr>
      </p:sp>
      <p:sp>
        <p:nvSpPr>
          <p:cNvPr id="25" name="Shape 23"/>
          <p:cNvSpPr/>
          <p:nvPr/>
        </p:nvSpPr>
        <p:spPr>
          <a:xfrm>
            <a:off x="4846320" y="3703320"/>
            <a:ext cx="64008" cy="1051560"/>
          </a:xfrm>
          <a:prstGeom prst="rect">
            <a:avLst/>
          </a:prstGeom>
          <a:solidFill>
            <a:srgbClr val="7030A0"/>
          </a:solidFill>
          <a:ln w="12700">
            <a:solidFill>
              <a:srgbClr val="7030A0"/>
            </a:solidFill>
            <a:prstDash val="solid"/>
          </a:ln>
        </p:spPr>
      </p:sp>
      <p:sp>
        <p:nvSpPr>
          <p:cNvPr id="26" name="Text 24"/>
          <p:cNvSpPr/>
          <p:nvPr/>
        </p:nvSpPr>
        <p:spPr>
          <a:xfrm>
            <a:off x="5010912" y="3813048"/>
            <a:ext cx="3840480" cy="347472"/>
          </a:xfrm>
          <a:prstGeom prst="rect">
            <a:avLst/>
          </a:prstGeom>
          <a:noFill/>
          <a:ln/>
        </p:spPr>
        <p:txBody>
          <a:bodyPr wrap="square" lIns="0" tIns="0" rIns="0" bIns="0"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日和日記・お知らせ</a:t>
            </a:r>
            <a:endParaRPr lang="en-US" sz="1300" dirty="0"/>
          </a:p>
        </p:txBody>
      </p:sp>
      <p:sp>
        <p:nvSpPr>
          <p:cNvPr id="27" name="Text 25"/>
          <p:cNvSpPr/>
          <p:nvPr/>
        </p:nvSpPr>
        <p:spPr>
          <a:xfrm>
            <a:off x="5010912" y="4206240"/>
            <a:ext cx="3840480" cy="457200"/>
          </a:xfrm>
          <a:prstGeom prst="rect">
            <a:avLst/>
          </a:prstGeom>
          <a:noFill/>
          <a:ln/>
        </p:spPr>
        <p:txBody>
          <a:bodyPr wrap="square" lIns="0" tIns="0" rIns="0" bIns="0"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日常の温度感を継続的に発信する</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sp>
      <p:sp>
        <p:nvSpPr>
          <p:cNvPr id="3" name="Text 1"/>
          <p:cNvSpPr/>
          <p:nvPr/>
        </p:nvSpPr>
        <p:spPr>
          <a:xfrm>
            <a:off x="457200" y="228600"/>
            <a:ext cx="82296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06　デザイン表現の方向性</a:t>
            </a:r>
            <a:endParaRPr lang="en-US" sz="2400" dirty="0"/>
          </a:p>
        </p:txBody>
      </p:sp>
      <p:sp>
        <p:nvSpPr>
          <p:cNvPr id="4" name="Text 2"/>
          <p:cNvSpPr/>
          <p:nvPr/>
        </p:nvSpPr>
        <p:spPr>
          <a:xfrm>
            <a:off x="457200" y="1097280"/>
            <a:ext cx="8229600" cy="347472"/>
          </a:xfrm>
          <a:prstGeom prst="rect">
            <a:avLst/>
          </a:prstGeom>
          <a:noFill/>
          <a:ln/>
        </p:spPr>
        <p:txBody>
          <a:bodyPr wrap="square" lIns="0" tIns="0" rIns="0" bIns="0" rtlCol="0" anchor="ctr"/>
          <a:lstStyle/>
          <a:p>
            <a:pPr algn="l" indent="0" marL="0">
              <a:buNone/>
            </a:pPr>
            <a:r>
              <a:rPr lang="en-US" sz="1500" b="1" dirty="0">
                <a:solidFill>
                  <a:srgbClr val="1E3A5F"/>
                </a:solidFill>
                <a:latin typeface="Calibri" pitchFamily="34" charset="0"/>
                <a:ea typeface="Calibri" pitchFamily="34" charset="-122"/>
                <a:cs typeface="Calibri" pitchFamily="34" charset="-120"/>
              </a:rPr>
              <a:t>カラー設計</a:t>
            </a:r>
            <a:endParaRPr lang="en-US" sz="1500" dirty="0"/>
          </a:p>
        </p:txBody>
      </p:sp>
      <p:sp>
        <p:nvSpPr>
          <p:cNvPr id="5" name="Shape 3"/>
          <p:cNvSpPr/>
          <p:nvPr/>
        </p:nvSpPr>
        <p:spPr>
          <a:xfrm>
            <a:off x="457200" y="1600200"/>
            <a:ext cx="1828800" cy="640080"/>
          </a:xfrm>
          <a:prstGeom prst="rect">
            <a:avLst/>
          </a:prstGeom>
          <a:solidFill>
            <a:srgbClr val="8B6F47"/>
          </a:solidFill>
          <a:ln w="6350">
            <a:solidFill>
              <a:srgbClr val="DDDDDD"/>
            </a:solidFill>
            <a:prstDash val="solid"/>
          </a:ln>
        </p:spPr>
      </p:sp>
      <p:sp>
        <p:nvSpPr>
          <p:cNvPr id="6" name="Text 4"/>
          <p:cNvSpPr/>
          <p:nvPr/>
        </p:nvSpPr>
        <p:spPr>
          <a:xfrm>
            <a:off x="457200" y="2286000"/>
            <a:ext cx="1828800" cy="274320"/>
          </a:xfrm>
          <a:prstGeom prst="rect">
            <a:avLst/>
          </a:prstGeom>
          <a:noFill/>
          <a:ln/>
        </p:spPr>
        <p:txBody>
          <a:bodyPr wrap="square" lIns="0" tIns="0" rIns="0" bIns="0"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木のぬくもり</a:t>
            </a:r>
            <a:endParaRPr lang="en-US" sz="1000" dirty="0"/>
          </a:p>
        </p:txBody>
      </p:sp>
      <p:sp>
        <p:nvSpPr>
          <p:cNvPr id="7" name="Shape 5"/>
          <p:cNvSpPr/>
          <p:nvPr/>
        </p:nvSpPr>
        <p:spPr>
          <a:xfrm>
            <a:off x="2560320" y="1600200"/>
            <a:ext cx="1828800" cy="640080"/>
          </a:xfrm>
          <a:prstGeom prst="rect">
            <a:avLst/>
          </a:prstGeom>
          <a:solidFill>
            <a:srgbClr val="F5F0E8"/>
          </a:solidFill>
          <a:ln w="6350">
            <a:solidFill>
              <a:srgbClr val="DDDDDD"/>
            </a:solidFill>
            <a:prstDash val="solid"/>
          </a:ln>
        </p:spPr>
      </p:sp>
      <p:sp>
        <p:nvSpPr>
          <p:cNvPr id="8" name="Text 6"/>
          <p:cNvSpPr/>
          <p:nvPr/>
        </p:nvSpPr>
        <p:spPr>
          <a:xfrm>
            <a:off x="2560320" y="2286000"/>
            <a:ext cx="1828800" cy="274320"/>
          </a:xfrm>
          <a:prstGeom prst="rect">
            <a:avLst/>
          </a:prstGeom>
          <a:noFill/>
          <a:ln/>
        </p:spPr>
        <p:txBody>
          <a:bodyPr wrap="square" lIns="0" tIns="0" rIns="0" bIns="0"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やわらかなアイボリー</a:t>
            </a:r>
            <a:endParaRPr lang="en-US" sz="1000" dirty="0"/>
          </a:p>
        </p:txBody>
      </p:sp>
      <p:sp>
        <p:nvSpPr>
          <p:cNvPr id="9" name="Shape 7"/>
          <p:cNvSpPr/>
          <p:nvPr/>
        </p:nvSpPr>
        <p:spPr>
          <a:xfrm>
            <a:off x="4663440" y="1600200"/>
            <a:ext cx="1828800" cy="640080"/>
          </a:xfrm>
          <a:prstGeom prst="rect">
            <a:avLst/>
          </a:prstGeom>
          <a:solidFill>
            <a:srgbClr val="7B9E87"/>
          </a:solidFill>
          <a:ln w="6350">
            <a:solidFill>
              <a:srgbClr val="DDDDDD"/>
            </a:solidFill>
            <a:prstDash val="solid"/>
          </a:ln>
        </p:spPr>
      </p:sp>
      <p:sp>
        <p:nvSpPr>
          <p:cNvPr id="10" name="Text 8"/>
          <p:cNvSpPr/>
          <p:nvPr/>
        </p:nvSpPr>
        <p:spPr>
          <a:xfrm>
            <a:off x="4663440" y="2286000"/>
            <a:ext cx="1828800" cy="274320"/>
          </a:xfrm>
          <a:prstGeom prst="rect">
            <a:avLst/>
          </a:prstGeom>
          <a:noFill/>
          <a:ln/>
        </p:spPr>
        <p:txBody>
          <a:bodyPr wrap="square" lIns="0" tIns="0" rIns="0" bIns="0"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くすんだグリーン</a:t>
            </a:r>
            <a:endParaRPr lang="en-US" sz="1000" dirty="0"/>
          </a:p>
        </p:txBody>
      </p:sp>
      <p:sp>
        <p:nvSpPr>
          <p:cNvPr id="11" name="Shape 9"/>
          <p:cNvSpPr/>
          <p:nvPr/>
        </p:nvSpPr>
        <p:spPr>
          <a:xfrm>
            <a:off x="6766560" y="1600200"/>
            <a:ext cx="1828800" cy="640080"/>
          </a:xfrm>
          <a:prstGeom prst="rect">
            <a:avLst/>
          </a:prstGeom>
          <a:solidFill>
            <a:srgbClr val="2E86AB"/>
          </a:solidFill>
          <a:ln w="6350">
            <a:solidFill>
              <a:srgbClr val="DDDDDD"/>
            </a:solidFill>
            <a:prstDash val="solid"/>
          </a:ln>
        </p:spPr>
      </p:sp>
      <p:sp>
        <p:nvSpPr>
          <p:cNvPr id="12" name="Text 10"/>
          <p:cNvSpPr/>
          <p:nvPr/>
        </p:nvSpPr>
        <p:spPr>
          <a:xfrm>
            <a:off x="6766560" y="2286000"/>
            <a:ext cx="1828800" cy="274320"/>
          </a:xfrm>
          <a:prstGeom prst="rect">
            <a:avLst/>
          </a:prstGeom>
          <a:noFill/>
          <a:ln/>
        </p:spPr>
        <p:txBody>
          <a:bodyPr wrap="square" lIns="0" tIns="0" rIns="0" bIns="0"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アクセント</a:t>
            </a:r>
            <a:endParaRPr lang="en-US" sz="1000" dirty="0"/>
          </a:p>
        </p:txBody>
      </p:sp>
      <p:sp>
        <p:nvSpPr>
          <p:cNvPr id="13" name="Shape 11"/>
          <p:cNvSpPr/>
          <p:nvPr/>
        </p:nvSpPr>
        <p:spPr>
          <a:xfrm>
            <a:off x="365760" y="2788920"/>
            <a:ext cx="4114800" cy="1920240"/>
          </a:xfrm>
          <a:prstGeom prst="rect">
            <a:avLst/>
          </a:prstGeom>
          <a:solidFill>
            <a:srgbClr val="F7F9FC"/>
          </a:solidFill>
          <a:ln w="6350">
            <a:solidFill>
              <a:srgbClr val="E2E8F0"/>
            </a:solidFill>
            <a:prstDash val="solid"/>
          </a:ln>
        </p:spPr>
      </p:sp>
      <p:sp>
        <p:nvSpPr>
          <p:cNvPr id="14" name="Text 12"/>
          <p:cNvSpPr/>
          <p:nvPr/>
        </p:nvSpPr>
        <p:spPr>
          <a:xfrm>
            <a:off x="548640" y="2971800"/>
            <a:ext cx="3749040" cy="347472"/>
          </a:xfrm>
          <a:prstGeom prst="rect">
            <a:avLst/>
          </a:prstGeom>
          <a:noFill/>
          <a:ln/>
        </p:spPr>
        <p:txBody>
          <a:bodyPr wrap="square" lIns="0" tIns="0" rIns="0" bIns="0"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写真・ビジュアル</a:t>
            </a:r>
            <a:endParaRPr lang="en-US" sz="1300" dirty="0"/>
          </a:p>
        </p:txBody>
      </p:sp>
      <p:sp>
        <p:nvSpPr>
          <p:cNvPr id="15" name="Text 13"/>
          <p:cNvSpPr/>
          <p:nvPr/>
        </p:nvSpPr>
        <p:spPr>
          <a:xfrm>
            <a:off x="548640" y="3429000"/>
            <a:ext cx="3749040" cy="1097280"/>
          </a:xfrm>
          <a:prstGeom prst="rect">
            <a:avLst/>
          </a:prstGeom>
          <a:noFill/>
          <a:ln/>
        </p:spPr>
        <p:txBody>
          <a:bodyPr wrap="square" rtlCol="0" anchor="ctr"/>
          <a:lstStyle/>
          <a:p>
            <a:pPr algn="l" indent="0" marL="0">
              <a:buNone/>
            </a:pPr>
            <a:r>
              <a:rPr lang="en-US" sz="1200" dirty="0">
                <a:solidFill>
                  <a:srgbClr val="1A1A1A"/>
                </a:solidFill>
                <a:latin typeface="Calibri" pitchFamily="34" charset="0"/>
                <a:ea typeface="Calibri" pitchFamily="34" charset="-122"/>
                <a:cs typeface="Calibri" pitchFamily="34" charset="-120"/>
              </a:rPr>
              <a:t>整いすぎた演出よりも、光や空気感、少し力の抜けた手触りが伝わる表現を重視。</a:t>
            </a:r>
            <a:endParaRPr lang="en-US" sz="1200" dirty="0"/>
          </a:p>
        </p:txBody>
      </p:sp>
      <p:sp>
        <p:nvSpPr>
          <p:cNvPr id="16" name="Shape 14"/>
          <p:cNvSpPr/>
          <p:nvPr/>
        </p:nvSpPr>
        <p:spPr>
          <a:xfrm>
            <a:off x="4846320" y="2788920"/>
            <a:ext cx="4114800" cy="1920240"/>
          </a:xfrm>
          <a:prstGeom prst="rect">
            <a:avLst/>
          </a:prstGeom>
          <a:solidFill>
            <a:srgbClr val="F7F9FC"/>
          </a:solidFill>
          <a:ln w="6350">
            <a:solidFill>
              <a:srgbClr val="E2E8F0"/>
            </a:solidFill>
            <a:prstDash val="solid"/>
          </a:ln>
        </p:spPr>
      </p:sp>
      <p:sp>
        <p:nvSpPr>
          <p:cNvPr id="17" name="Text 15"/>
          <p:cNvSpPr/>
          <p:nvPr/>
        </p:nvSpPr>
        <p:spPr>
          <a:xfrm>
            <a:off x="5029200" y="2971800"/>
            <a:ext cx="3749040" cy="347472"/>
          </a:xfrm>
          <a:prstGeom prst="rect">
            <a:avLst/>
          </a:prstGeom>
          <a:noFill/>
          <a:ln/>
        </p:spPr>
        <p:txBody>
          <a:bodyPr wrap="square" lIns="0" tIns="0" rIns="0" bIns="0"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言葉づかい</a:t>
            </a:r>
            <a:endParaRPr lang="en-US" sz="1300" dirty="0"/>
          </a:p>
        </p:txBody>
      </p:sp>
      <p:sp>
        <p:nvSpPr>
          <p:cNvPr id="18" name="Text 16"/>
          <p:cNvSpPr/>
          <p:nvPr/>
        </p:nvSpPr>
        <p:spPr>
          <a:xfrm>
            <a:off x="5029200" y="3429000"/>
            <a:ext cx="3749040" cy="1097280"/>
          </a:xfrm>
          <a:prstGeom prst="rect">
            <a:avLst/>
          </a:prstGeom>
          <a:noFill/>
          <a:ln/>
        </p:spPr>
        <p:txBody>
          <a:bodyPr wrap="square" rtlCol="0" anchor="ctr"/>
          <a:lstStyle/>
          <a:p>
            <a:pPr algn="l" indent="0" marL="0">
              <a:buNone/>
            </a:pPr>
            <a:r>
              <a:rPr lang="en-US" sz="1200" dirty="0">
                <a:solidFill>
                  <a:srgbClr val="1A1A1A"/>
                </a:solidFill>
                <a:latin typeface="Calibri" pitchFamily="34" charset="0"/>
                <a:ea typeface="Calibri" pitchFamily="34" charset="-122"/>
                <a:cs typeface="Calibri" pitchFamily="34" charset="-120"/>
              </a:rPr>
              <a:t>やさしく、少しひらがなを混ぜた、ぬくもりのあるトーン。ブランドボイスで統一。</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sp>
      <p:sp>
        <p:nvSpPr>
          <p:cNvPr id="3" name="Text 1"/>
          <p:cNvSpPr/>
          <p:nvPr/>
        </p:nvSpPr>
        <p:spPr>
          <a:xfrm>
            <a:off x="457200" y="228600"/>
            <a:ext cx="82296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07　期待できる効果</a:t>
            </a:r>
            <a:endParaRPr lang="en-US" sz="2400" dirty="0"/>
          </a:p>
        </p:txBody>
      </p:sp>
      <p:sp>
        <p:nvSpPr>
          <p:cNvPr id="4" name="Shape 2"/>
          <p:cNvSpPr/>
          <p:nvPr/>
        </p:nvSpPr>
        <p:spPr>
          <a:xfrm>
            <a:off x="365760" y="1143000"/>
            <a:ext cx="2606040" cy="3520440"/>
          </a:xfrm>
          <a:prstGeom prst="rect">
            <a:avLst/>
          </a:prstGeom>
          <a:solidFill>
            <a:srgbClr val="F7F9FC"/>
          </a:solidFill>
          <a:ln w="6350">
            <a:solidFill>
              <a:srgbClr val="E2E8F0"/>
            </a:solidFill>
            <a:prstDash val="solid"/>
          </a:ln>
        </p:spPr>
      </p:sp>
      <p:sp>
        <p:nvSpPr>
          <p:cNvPr id="5" name="Shape 3"/>
          <p:cNvSpPr/>
          <p:nvPr/>
        </p:nvSpPr>
        <p:spPr>
          <a:xfrm>
            <a:off x="1280160" y="1371600"/>
            <a:ext cx="777240" cy="777240"/>
          </a:xfrm>
          <a:prstGeom prst="ellipse">
            <a:avLst/>
          </a:prstGeom>
          <a:solidFill>
            <a:srgbClr val="1E3A5F"/>
          </a:solidFill>
          <a:ln w="12700">
            <a:solidFill>
              <a:srgbClr val="1E3A5F"/>
            </a:solidFill>
            <a:prstDash val="solid"/>
          </a:ln>
        </p:spPr>
      </p:sp>
      <p:pic>
        <p:nvPicPr>
          <p:cNvPr id="6" name="Image 0" descr="preencoded.png">    </p:cNvPr>
          <p:cNvPicPr>
            <a:picLocks noChangeAspect="1"/>
          </p:cNvPicPr>
          <p:nvPr/>
        </p:nvPicPr>
        <p:blipFill>
          <a:blip r:embed="rId1"/>
          <a:stretch>
            <a:fillRect/>
          </a:stretch>
        </p:blipFill>
        <p:spPr>
          <a:xfrm>
            <a:off x="1417320" y="1508760"/>
            <a:ext cx="502920" cy="502920"/>
          </a:xfrm>
          <a:prstGeom prst="rect">
            <a:avLst/>
          </a:prstGeom>
        </p:spPr>
      </p:pic>
      <p:sp>
        <p:nvSpPr>
          <p:cNvPr id="7" name="Text 4"/>
          <p:cNvSpPr/>
          <p:nvPr/>
        </p:nvSpPr>
        <p:spPr>
          <a:xfrm>
            <a:off x="365760" y="2331720"/>
            <a:ext cx="2606040" cy="411480"/>
          </a:xfrm>
          <a:prstGeom prst="rect">
            <a:avLst/>
          </a:prstGeom>
          <a:noFill/>
          <a:ln/>
        </p:spPr>
        <p:txBody>
          <a:bodyPr wrap="square" lIns="0" tIns="0" rIns="0" bIns="0" rtlCol="0" anchor="ctr"/>
          <a:lstStyle/>
          <a:p>
            <a:pPr algn="ctr" indent="0" marL="0">
              <a:buNone/>
            </a:pPr>
            <a:r>
              <a:rPr lang="en-US" sz="1400" b="1" dirty="0">
                <a:solidFill>
                  <a:srgbClr val="1E3A5F"/>
                </a:solidFill>
                <a:latin typeface="Calibri" pitchFamily="34" charset="0"/>
                <a:ea typeface="Calibri" pitchFamily="34" charset="-122"/>
                <a:cs typeface="Calibri" pitchFamily="34" charset="-120"/>
              </a:rPr>
              <a:t>世界観の伝達</a:t>
            </a:r>
            <a:endParaRPr lang="en-US" sz="1400" dirty="0"/>
          </a:p>
        </p:txBody>
      </p:sp>
      <p:sp>
        <p:nvSpPr>
          <p:cNvPr id="8" name="Text 5"/>
          <p:cNvSpPr/>
          <p:nvPr/>
        </p:nvSpPr>
        <p:spPr>
          <a:xfrm>
            <a:off x="502920" y="2834640"/>
            <a:ext cx="2331720" cy="1554480"/>
          </a:xfrm>
          <a:prstGeom prst="rect">
            <a:avLst/>
          </a:prstGeom>
          <a:noFill/>
          <a:ln/>
        </p:spPr>
        <p:txBody>
          <a:bodyPr wrap="square"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独自の世界観を初見のお客様にも伝えやすくなる</a:t>
            </a:r>
            <a:endParaRPr lang="en-US" sz="1200" dirty="0"/>
          </a:p>
        </p:txBody>
      </p:sp>
      <p:sp>
        <p:nvSpPr>
          <p:cNvPr id="9" name="Shape 6"/>
          <p:cNvSpPr/>
          <p:nvPr/>
        </p:nvSpPr>
        <p:spPr>
          <a:xfrm>
            <a:off x="3218688" y="1143000"/>
            <a:ext cx="2606040" cy="3520440"/>
          </a:xfrm>
          <a:prstGeom prst="rect">
            <a:avLst/>
          </a:prstGeom>
          <a:solidFill>
            <a:srgbClr val="F7F9FC"/>
          </a:solidFill>
          <a:ln w="6350">
            <a:solidFill>
              <a:srgbClr val="E2E8F0"/>
            </a:solidFill>
            <a:prstDash val="solid"/>
          </a:ln>
        </p:spPr>
      </p:sp>
      <p:sp>
        <p:nvSpPr>
          <p:cNvPr id="10" name="Shape 7"/>
          <p:cNvSpPr/>
          <p:nvPr/>
        </p:nvSpPr>
        <p:spPr>
          <a:xfrm>
            <a:off x="4133088" y="1371600"/>
            <a:ext cx="777240" cy="777240"/>
          </a:xfrm>
          <a:prstGeom prst="ellipse">
            <a:avLst/>
          </a:prstGeom>
          <a:solidFill>
            <a:srgbClr val="1E3A5F"/>
          </a:solidFill>
          <a:ln w="12700">
            <a:solidFill>
              <a:srgbClr val="1E3A5F"/>
            </a:solidFill>
            <a:prstDash val="solid"/>
          </a:ln>
        </p:spPr>
      </p:sp>
      <p:pic>
        <p:nvPicPr>
          <p:cNvPr id="11" name="Image 1" descr="preencoded.png">    </p:cNvPr>
          <p:cNvPicPr>
            <a:picLocks noChangeAspect="1"/>
          </p:cNvPicPr>
          <p:nvPr/>
        </p:nvPicPr>
        <p:blipFill>
          <a:blip r:embed="rId2"/>
          <a:stretch>
            <a:fillRect/>
          </a:stretch>
        </p:blipFill>
        <p:spPr>
          <a:xfrm>
            <a:off x="4270248" y="1508760"/>
            <a:ext cx="502920" cy="502920"/>
          </a:xfrm>
          <a:prstGeom prst="rect">
            <a:avLst/>
          </a:prstGeom>
        </p:spPr>
      </p:pic>
      <p:sp>
        <p:nvSpPr>
          <p:cNvPr id="12" name="Text 8"/>
          <p:cNvSpPr/>
          <p:nvPr/>
        </p:nvSpPr>
        <p:spPr>
          <a:xfrm>
            <a:off x="3218688" y="2331720"/>
            <a:ext cx="2606040" cy="411480"/>
          </a:xfrm>
          <a:prstGeom prst="rect">
            <a:avLst/>
          </a:prstGeom>
          <a:noFill/>
          <a:ln/>
        </p:spPr>
        <p:txBody>
          <a:bodyPr wrap="square" lIns="0" tIns="0" rIns="0" bIns="0" rtlCol="0" anchor="ctr"/>
          <a:lstStyle/>
          <a:p>
            <a:pPr algn="ctr" indent="0" marL="0">
              <a:buNone/>
            </a:pPr>
            <a:r>
              <a:rPr lang="en-US" sz="1400" b="1" dirty="0">
                <a:solidFill>
                  <a:srgbClr val="1E3A5F"/>
                </a:solidFill>
                <a:latin typeface="Calibri" pitchFamily="34" charset="0"/>
                <a:ea typeface="Calibri" pitchFamily="34" charset="-122"/>
                <a:cs typeface="Calibri" pitchFamily="34" charset="-120"/>
              </a:rPr>
              <a:t>来店前不安の軽減</a:t>
            </a:r>
            <a:endParaRPr lang="en-US" sz="1400" dirty="0"/>
          </a:p>
        </p:txBody>
      </p:sp>
      <p:sp>
        <p:nvSpPr>
          <p:cNvPr id="13" name="Text 9"/>
          <p:cNvSpPr/>
          <p:nvPr/>
        </p:nvSpPr>
        <p:spPr>
          <a:xfrm>
            <a:off x="3355848" y="2834640"/>
            <a:ext cx="2331720" cy="1554480"/>
          </a:xfrm>
          <a:prstGeom prst="rect">
            <a:avLst/>
          </a:prstGeom>
          <a:noFill/>
          <a:ln/>
        </p:spPr>
        <p:txBody>
          <a:bodyPr wrap="square"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営業時間・設備・ルールへの理解が深まり、安心して来店できる</a:t>
            </a:r>
            <a:endParaRPr lang="en-US" sz="1200" dirty="0"/>
          </a:p>
        </p:txBody>
      </p:sp>
      <p:sp>
        <p:nvSpPr>
          <p:cNvPr id="14" name="Shape 10"/>
          <p:cNvSpPr/>
          <p:nvPr/>
        </p:nvSpPr>
        <p:spPr>
          <a:xfrm>
            <a:off x="6071616" y="1143000"/>
            <a:ext cx="2606040" cy="3520440"/>
          </a:xfrm>
          <a:prstGeom prst="rect">
            <a:avLst/>
          </a:prstGeom>
          <a:solidFill>
            <a:srgbClr val="F7F9FC"/>
          </a:solidFill>
          <a:ln w="6350">
            <a:solidFill>
              <a:srgbClr val="E2E8F0"/>
            </a:solidFill>
            <a:prstDash val="solid"/>
          </a:ln>
        </p:spPr>
      </p:sp>
      <p:sp>
        <p:nvSpPr>
          <p:cNvPr id="15" name="Shape 11"/>
          <p:cNvSpPr/>
          <p:nvPr/>
        </p:nvSpPr>
        <p:spPr>
          <a:xfrm>
            <a:off x="6986016" y="1371600"/>
            <a:ext cx="777240" cy="777240"/>
          </a:xfrm>
          <a:prstGeom prst="ellipse">
            <a:avLst/>
          </a:prstGeom>
          <a:solidFill>
            <a:srgbClr val="1E3A5F"/>
          </a:solidFill>
          <a:ln w="12700">
            <a:solidFill>
              <a:srgbClr val="1E3A5F"/>
            </a:solidFill>
            <a:prstDash val="solid"/>
          </a:ln>
        </p:spPr>
      </p:sp>
      <p:pic>
        <p:nvPicPr>
          <p:cNvPr id="16" name="Image 2" descr="preencoded.png">    </p:cNvPr>
          <p:cNvPicPr>
            <a:picLocks noChangeAspect="1"/>
          </p:cNvPicPr>
          <p:nvPr/>
        </p:nvPicPr>
        <p:blipFill>
          <a:blip r:embed="rId3"/>
          <a:stretch>
            <a:fillRect/>
          </a:stretch>
        </p:blipFill>
        <p:spPr>
          <a:xfrm>
            <a:off x="7123176" y="1508760"/>
            <a:ext cx="502920" cy="502920"/>
          </a:xfrm>
          <a:prstGeom prst="rect">
            <a:avLst/>
          </a:prstGeom>
        </p:spPr>
      </p:pic>
      <p:sp>
        <p:nvSpPr>
          <p:cNvPr id="17" name="Text 12"/>
          <p:cNvSpPr/>
          <p:nvPr/>
        </p:nvSpPr>
        <p:spPr>
          <a:xfrm>
            <a:off x="6071616" y="2331720"/>
            <a:ext cx="2606040" cy="411480"/>
          </a:xfrm>
          <a:prstGeom prst="rect">
            <a:avLst/>
          </a:prstGeom>
          <a:noFill/>
          <a:ln/>
        </p:spPr>
        <p:txBody>
          <a:bodyPr wrap="square" lIns="0" tIns="0" rIns="0" bIns="0" rtlCol="0" anchor="ctr"/>
          <a:lstStyle/>
          <a:p>
            <a:pPr algn="ctr" indent="0" marL="0">
              <a:buNone/>
            </a:pPr>
            <a:r>
              <a:rPr lang="en-US" sz="1400" b="1" dirty="0">
                <a:solidFill>
                  <a:srgbClr val="1E3A5F"/>
                </a:solidFill>
                <a:latin typeface="Calibri" pitchFamily="34" charset="0"/>
                <a:ea typeface="Calibri" pitchFamily="34" charset="-122"/>
                <a:cs typeface="Calibri" pitchFamily="34" charset="-120"/>
              </a:rPr>
              <a:t>再訪・ファン化の促進</a:t>
            </a:r>
            <a:endParaRPr lang="en-US" sz="1400" dirty="0"/>
          </a:p>
        </p:txBody>
      </p:sp>
      <p:sp>
        <p:nvSpPr>
          <p:cNvPr id="18" name="Text 13"/>
          <p:cNvSpPr/>
          <p:nvPr/>
        </p:nvSpPr>
        <p:spPr>
          <a:xfrm>
            <a:off x="6208776" y="2834640"/>
            <a:ext cx="2331720" cy="1554480"/>
          </a:xfrm>
          <a:prstGeom prst="rect">
            <a:avLst/>
          </a:prstGeom>
          <a:noFill/>
          <a:ln/>
        </p:spPr>
        <p:txBody>
          <a:bodyPr wrap="square"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日々の発信やメニュー訴求を通じてファン化の土台をつくる</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sp>
      <p:sp>
        <p:nvSpPr>
          <p:cNvPr id="3" name="Text 1"/>
          <p:cNvSpPr/>
          <p:nvPr/>
        </p:nvSpPr>
        <p:spPr>
          <a:xfrm>
            <a:off x="457200" y="228600"/>
            <a:ext cx="82296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07　今後の進め方</a:t>
            </a:r>
            <a:endParaRPr lang="en-US" sz="2400" dirty="0"/>
          </a:p>
        </p:txBody>
      </p:sp>
      <p:sp>
        <p:nvSpPr>
          <p:cNvPr id="4" name="Shape 2"/>
          <p:cNvSpPr/>
          <p:nvPr/>
        </p:nvSpPr>
        <p:spPr>
          <a:xfrm>
            <a:off x="320040" y="1188720"/>
            <a:ext cx="1508760" cy="3474720"/>
          </a:xfrm>
          <a:prstGeom prst="rect">
            <a:avLst/>
          </a:prstGeom>
          <a:solidFill>
            <a:srgbClr val="2E86AB"/>
          </a:solidFill>
          <a:ln w="6350">
            <a:solidFill>
              <a:srgbClr val="2E86AB"/>
            </a:solidFill>
            <a:prstDash val="solid"/>
          </a:ln>
        </p:spPr>
      </p:sp>
      <p:sp>
        <p:nvSpPr>
          <p:cNvPr id="5" name="Text 3"/>
          <p:cNvSpPr/>
          <p:nvPr/>
        </p:nvSpPr>
        <p:spPr>
          <a:xfrm>
            <a:off x="320040" y="1371600"/>
            <a:ext cx="150876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STEP 1</a:t>
            </a:r>
            <a:endParaRPr lang="en-US" sz="1000" dirty="0"/>
          </a:p>
        </p:txBody>
      </p:sp>
      <p:sp>
        <p:nvSpPr>
          <p:cNvPr id="6" name="Text 4"/>
          <p:cNvSpPr/>
          <p:nvPr/>
        </p:nvSpPr>
        <p:spPr>
          <a:xfrm>
            <a:off x="320040" y="1783080"/>
            <a:ext cx="150876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方向性確認</a:t>
            </a:r>
            <a:endParaRPr lang="en-US" sz="1300" dirty="0"/>
          </a:p>
        </p:txBody>
      </p:sp>
      <p:sp>
        <p:nvSpPr>
          <p:cNvPr id="7" name="Text 5"/>
          <p:cNvSpPr/>
          <p:nvPr/>
        </p:nvSpPr>
        <p:spPr>
          <a:xfrm>
            <a:off x="411480" y="2377440"/>
            <a:ext cx="1325880" cy="1645920"/>
          </a:xfrm>
          <a:prstGeom prst="rect">
            <a:avLst/>
          </a:prstGeom>
          <a:noFill/>
          <a:ln/>
        </p:spPr>
        <p:txBody>
          <a:bodyPr wrap="square" rtlCol="0" anchor="ctr"/>
          <a:lstStyle/>
          <a:p>
            <a:pPr algn="ctr" indent="0" marL="0">
              <a:buNone/>
            </a:pPr>
            <a:r>
              <a:rPr lang="en-US" sz="1000" dirty="0">
                <a:solidFill>
                  <a:srgbClr val="D8EEF9"/>
                </a:solidFill>
                <a:latin typeface="Calibri" pitchFamily="34" charset="0"/>
                <a:ea typeface="Calibri" pitchFamily="34" charset="-122"/>
                <a:cs typeface="Calibri" pitchFamily="34" charset="-120"/>
              </a:rPr>
              <a:t>ビジュアル・情報設計の方向性をご確認</a:t>
            </a:r>
            <a:endParaRPr lang="en-US" sz="1000" dirty="0"/>
          </a:p>
        </p:txBody>
      </p:sp>
      <p:sp>
        <p:nvSpPr>
          <p:cNvPr id="8" name="Shape 6"/>
          <p:cNvSpPr/>
          <p:nvPr/>
        </p:nvSpPr>
        <p:spPr>
          <a:xfrm>
            <a:off x="1828800" y="2011680"/>
            <a:ext cx="210312" cy="0"/>
          </a:xfrm>
          <a:prstGeom prst="line">
            <a:avLst/>
          </a:prstGeom>
          <a:noFill/>
          <a:ln w="19050">
            <a:solidFill>
              <a:srgbClr val="2E86AB"/>
            </a:solidFill>
            <a:prstDash val="solid"/>
          </a:ln>
        </p:spPr>
      </p:sp>
      <p:sp>
        <p:nvSpPr>
          <p:cNvPr id="9" name="Shape 7"/>
          <p:cNvSpPr/>
          <p:nvPr/>
        </p:nvSpPr>
        <p:spPr>
          <a:xfrm>
            <a:off x="2039112" y="1188720"/>
            <a:ext cx="1508760" cy="3474720"/>
          </a:xfrm>
          <a:prstGeom prst="rect">
            <a:avLst/>
          </a:prstGeom>
          <a:solidFill>
            <a:srgbClr val="F7F9FC"/>
          </a:solidFill>
          <a:ln w="6350">
            <a:solidFill>
              <a:srgbClr val="E2E8F0"/>
            </a:solidFill>
            <a:prstDash val="solid"/>
          </a:ln>
        </p:spPr>
      </p:sp>
      <p:sp>
        <p:nvSpPr>
          <p:cNvPr id="10" name="Text 8"/>
          <p:cNvSpPr/>
          <p:nvPr/>
        </p:nvSpPr>
        <p:spPr>
          <a:xfrm>
            <a:off x="2039112" y="1371600"/>
            <a:ext cx="1508760" cy="320040"/>
          </a:xfrm>
          <a:prstGeom prst="rect">
            <a:avLst/>
          </a:prstGeom>
          <a:noFill/>
          <a:ln/>
        </p:spPr>
        <p:txBody>
          <a:bodyPr wrap="square" lIns="0" tIns="0" rIns="0" bIns="0" rtlCol="0" anchor="ctr"/>
          <a:lstStyle/>
          <a:p>
            <a:pPr algn="ctr" indent="0" marL="0">
              <a:buNone/>
            </a:pPr>
            <a:r>
              <a:rPr lang="en-US" sz="1000" b="1" dirty="0">
                <a:solidFill>
                  <a:srgbClr val="2E86AB"/>
                </a:solidFill>
                <a:latin typeface="Calibri" pitchFamily="34" charset="0"/>
                <a:ea typeface="Calibri" pitchFamily="34" charset="-122"/>
                <a:cs typeface="Calibri" pitchFamily="34" charset="-120"/>
              </a:rPr>
              <a:t>STEP 2</a:t>
            </a:r>
            <a:endParaRPr lang="en-US" sz="1000" dirty="0"/>
          </a:p>
        </p:txBody>
      </p:sp>
      <p:sp>
        <p:nvSpPr>
          <p:cNvPr id="11" name="Text 9"/>
          <p:cNvSpPr/>
          <p:nvPr/>
        </p:nvSpPr>
        <p:spPr>
          <a:xfrm>
            <a:off x="2039112" y="1783080"/>
            <a:ext cx="1508760" cy="41148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ワイヤーフレーム</a:t>
            </a:r>
            <a:endParaRPr lang="en-US" sz="1300" dirty="0"/>
          </a:p>
        </p:txBody>
      </p:sp>
      <p:sp>
        <p:nvSpPr>
          <p:cNvPr id="12" name="Text 10"/>
          <p:cNvSpPr/>
          <p:nvPr/>
        </p:nvSpPr>
        <p:spPr>
          <a:xfrm>
            <a:off x="2130552" y="2377440"/>
            <a:ext cx="1325880" cy="164592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トップページのワイヤーフレーム作成</a:t>
            </a:r>
            <a:endParaRPr lang="en-US" sz="1000" dirty="0"/>
          </a:p>
        </p:txBody>
      </p:sp>
      <p:sp>
        <p:nvSpPr>
          <p:cNvPr id="13" name="Shape 11"/>
          <p:cNvSpPr/>
          <p:nvPr/>
        </p:nvSpPr>
        <p:spPr>
          <a:xfrm>
            <a:off x="3547872" y="2011680"/>
            <a:ext cx="210312" cy="0"/>
          </a:xfrm>
          <a:prstGeom prst="line">
            <a:avLst/>
          </a:prstGeom>
          <a:noFill/>
          <a:ln w="19050">
            <a:solidFill>
              <a:srgbClr val="2E86AB"/>
            </a:solidFill>
            <a:prstDash val="solid"/>
          </a:ln>
        </p:spPr>
      </p:sp>
      <p:sp>
        <p:nvSpPr>
          <p:cNvPr id="14" name="Shape 12"/>
          <p:cNvSpPr/>
          <p:nvPr/>
        </p:nvSpPr>
        <p:spPr>
          <a:xfrm>
            <a:off x="3758184" y="1188720"/>
            <a:ext cx="1508760" cy="3474720"/>
          </a:xfrm>
          <a:prstGeom prst="rect">
            <a:avLst/>
          </a:prstGeom>
          <a:solidFill>
            <a:srgbClr val="F7F9FC"/>
          </a:solidFill>
          <a:ln w="6350">
            <a:solidFill>
              <a:srgbClr val="E2E8F0"/>
            </a:solidFill>
            <a:prstDash val="solid"/>
          </a:ln>
        </p:spPr>
      </p:sp>
      <p:sp>
        <p:nvSpPr>
          <p:cNvPr id="15" name="Text 13"/>
          <p:cNvSpPr/>
          <p:nvPr/>
        </p:nvSpPr>
        <p:spPr>
          <a:xfrm>
            <a:off x="3758184" y="1371600"/>
            <a:ext cx="1508760" cy="320040"/>
          </a:xfrm>
          <a:prstGeom prst="rect">
            <a:avLst/>
          </a:prstGeom>
          <a:noFill/>
          <a:ln/>
        </p:spPr>
        <p:txBody>
          <a:bodyPr wrap="square" lIns="0" tIns="0" rIns="0" bIns="0" rtlCol="0" anchor="ctr"/>
          <a:lstStyle/>
          <a:p>
            <a:pPr algn="ctr" indent="0" marL="0">
              <a:buNone/>
            </a:pPr>
            <a:r>
              <a:rPr lang="en-US" sz="1000" b="1" dirty="0">
                <a:solidFill>
                  <a:srgbClr val="2E86AB"/>
                </a:solidFill>
                <a:latin typeface="Calibri" pitchFamily="34" charset="0"/>
                <a:ea typeface="Calibri" pitchFamily="34" charset="-122"/>
                <a:cs typeface="Calibri" pitchFamily="34" charset="-120"/>
              </a:rPr>
              <a:t>STEP 3</a:t>
            </a:r>
            <a:endParaRPr lang="en-US" sz="1000" dirty="0"/>
          </a:p>
        </p:txBody>
      </p:sp>
      <p:sp>
        <p:nvSpPr>
          <p:cNvPr id="16" name="Text 14"/>
          <p:cNvSpPr/>
          <p:nvPr/>
        </p:nvSpPr>
        <p:spPr>
          <a:xfrm>
            <a:off x="3758184" y="1783080"/>
            <a:ext cx="1508760" cy="41148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デザイン制作</a:t>
            </a:r>
            <a:endParaRPr lang="en-US" sz="1300" dirty="0"/>
          </a:p>
        </p:txBody>
      </p:sp>
      <p:sp>
        <p:nvSpPr>
          <p:cNvPr id="17" name="Text 15"/>
          <p:cNvSpPr/>
          <p:nvPr/>
        </p:nvSpPr>
        <p:spPr>
          <a:xfrm>
            <a:off x="3849624" y="2377440"/>
            <a:ext cx="1325880" cy="164592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ビジュアルデザインの確定・制作</a:t>
            </a:r>
            <a:endParaRPr lang="en-US" sz="1000" dirty="0"/>
          </a:p>
        </p:txBody>
      </p:sp>
      <p:sp>
        <p:nvSpPr>
          <p:cNvPr id="18" name="Shape 16"/>
          <p:cNvSpPr/>
          <p:nvPr/>
        </p:nvSpPr>
        <p:spPr>
          <a:xfrm>
            <a:off x="5266944" y="2011680"/>
            <a:ext cx="210312" cy="0"/>
          </a:xfrm>
          <a:prstGeom prst="line">
            <a:avLst/>
          </a:prstGeom>
          <a:noFill/>
          <a:ln w="19050">
            <a:solidFill>
              <a:srgbClr val="2E86AB"/>
            </a:solidFill>
            <a:prstDash val="solid"/>
          </a:ln>
        </p:spPr>
      </p:sp>
      <p:sp>
        <p:nvSpPr>
          <p:cNvPr id="19" name="Shape 17"/>
          <p:cNvSpPr/>
          <p:nvPr/>
        </p:nvSpPr>
        <p:spPr>
          <a:xfrm>
            <a:off x="5477256" y="1188720"/>
            <a:ext cx="1508760" cy="3474720"/>
          </a:xfrm>
          <a:prstGeom prst="rect">
            <a:avLst/>
          </a:prstGeom>
          <a:solidFill>
            <a:srgbClr val="F7F9FC"/>
          </a:solidFill>
          <a:ln w="6350">
            <a:solidFill>
              <a:srgbClr val="E2E8F0"/>
            </a:solidFill>
            <a:prstDash val="solid"/>
          </a:ln>
        </p:spPr>
      </p:sp>
      <p:sp>
        <p:nvSpPr>
          <p:cNvPr id="20" name="Text 18"/>
          <p:cNvSpPr/>
          <p:nvPr/>
        </p:nvSpPr>
        <p:spPr>
          <a:xfrm>
            <a:off x="5477256" y="1371600"/>
            <a:ext cx="1508760" cy="320040"/>
          </a:xfrm>
          <a:prstGeom prst="rect">
            <a:avLst/>
          </a:prstGeom>
          <a:noFill/>
          <a:ln/>
        </p:spPr>
        <p:txBody>
          <a:bodyPr wrap="square" lIns="0" tIns="0" rIns="0" bIns="0" rtlCol="0" anchor="ctr"/>
          <a:lstStyle/>
          <a:p>
            <a:pPr algn="ctr" indent="0" marL="0">
              <a:buNone/>
            </a:pPr>
            <a:r>
              <a:rPr lang="en-US" sz="1000" b="1" dirty="0">
                <a:solidFill>
                  <a:srgbClr val="2E86AB"/>
                </a:solidFill>
                <a:latin typeface="Calibri" pitchFamily="34" charset="0"/>
                <a:ea typeface="Calibri" pitchFamily="34" charset="-122"/>
                <a:cs typeface="Calibri" pitchFamily="34" charset="-120"/>
              </a:rPr>
              <a:t>STEP 4</a:t>
            </a:r>
            <a:endParaRPr lang="en-US" sz="1000" dirty="0"/>
          </a:p>
        </p:txBody>
      </p:sp>
      <p:sp>
        <p:nvSpPr>
          <p:cNvPr id="21" name="Text 19"/>
          <p:cNvSpPr/>
          <p:nvPr/>
        </p:nvSpPr>
        <p:spPr>
          <a:xfrm>
            <a:off x="5477256" y="1783080"/>
            <a:ext cx="1508760" cy="41148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下層ページ展開</a:t>
            </a:r>
            <a:endParaRPr lang="en-US" sz="1300" dirty="0"/>
          </a:p>
        </p:txBody>
      </p:sp>
      <p:sp>
        <p:nvSpPr>
          <p:cNvPr id="22" name="Text 20"/>
          <p:cNvSpPr/>
          <p:nvPr/>
        </p:nvSpPr>
        <p:spPr>
          <a:xfrm>
            <a:off x="5568696" y="2377440"/>
            <a:ext cx="1325880" cy="164592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各ページへのデザイン展開・実装</a:t>
            </a:r>
            <a:endParaRPr lang="en-US" sz="1000" dirty="0"/>
          </a:p>
        </p:txBody>
      </p:sp>
      <p:sp>
        <p:nvSpPr>
          <p:cNvPr id="23" name="Shape 21"/>
          <p:cNvSpPr/>
          <p:nvPr/>
        </p:nvSpPr>
        <p:spPr>
          <a:xfrm>
            <a:off x="6986016" y="2011680"/>
            <a:ext cx="210312" cy="0"/>
          </a:xfrm>
          <a:prstGeom prst="line">
            <a:avLst/>
          </a:prstGeom>
          <a:noFill/>
          <a:ln w="19050">
            <a:solidFill>
              <a:srgbClr val="2E86AB"/>
            </a:solidFill>
            <a:prstDash val="solid"/>
          </a:ln>
        </p:spPr>
      </p:sp>
      <p:sp>
        <p:nvSpPr>
          <p:cNvPr id="24" name="Shape 22"/>
          <p:cNvSpPr/>
          <p:nvPr/>
        </p:nvSpPr>
        <p:spPr>
          <a:xfrm>
            <a:off x="7196328" y="1188720"/>
            <a:ext cx="1508760" cy="3474720"/>
          </a:xfrm>
          <a:prstGeom prst="rect">
            <a:avLst/>
          </a:prstGeom>
          <a:solidFill>
            <a:srgbClr val="F7F9FC"/>
          </a:solidFill>
          <a:ln w="6350">
            <a:solidFill>
              <a:srgbClr val="E2E8F0"/>
            </a:solidFill>
            <a:prstDash val="solid"/>
          </a:ln>
        </p:spPr>
      </p:sp>
      <p:sp>
        <p:nvSpPr>
          <p:cNvPr id="25" name="Text 23"/>
          <p:cNvSpPr/>
          <p:nvPr/>
        </p:nvSpPr>
        <p:spPr>
          <a:xfrm>
            <a:off x="7196328" y="1371600"/>
            <a:ext cx="1508760" cy="320040"/>
          </a:xfrm>
          <a:prstGeom prst="rect">
            <a:avLst/>
          </a:prstGeom>
          <a:noFill/>
          <a:ln/>
        </p:spPr>
        <p:txBody>
          <a:bodyPr wrap="square" lIns="0" tIns="0" rIns="0" bIns="0" rtlCol="0" anchor="ctr"/>
          <a:lstStyle/>
          <a:p>
            <a:pPr algn="ctr" indent="0" marL="0">
              <a:buNone/>
            </a:pPr>
            <a:r>
              <a:rPr lang="en-US" sz="1000" b="1" dirty="0">
                <a:solidFill>
                  <a:srgbClr val="2E86AB"/>
                </a:solidFill>
                <a:latin typeface="Calibri" pitchFamily="34" charset="0"/>
                <a:ea typeface="Calibri" pitchFamily="34" charset="-122"/>
                <a:cs typeface="Calibri" pitchFamily="34" charset="-120"/>
              </a:rPr>
              <a:t>STEP 5</a:t>
            </a:r>
            <a:endParaRPr lang="en-US" sz="1000" dirty="0"/>
          </a:p>
        </p:txBody>
      </p:sp>
      <p:sp>
        <p:nvSpPr>
          <p:cNvPr id="26" name="Text 24"/>
          <p:cNvSpPr/>
          <p:nvPr/>
        </p:nvSpPr>
        <p:spPr>
          <a:xfrm>
            <a:off x="7196328" y="1783080"/>
            <a:ext cx="1508760" cy="41148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公開準備・リリース</a:t>
            </a:r>
            <a:endParaRPr lang="en-US" sz="1300" dirty="0"/>
          </a:p>
        </p:txBody>
      </p:sp>
      <p:sp>
        <p:nvSpPr>
          <p:cNvPr id="27" name="Text 25"/>
          <p:cNvSpPr/>
          <p:nvPr/>
        </p:nvSpPr>
        <p:spPr>
          <a:xfrm>
            <a:off x="7287768" y="2377440"/>
            <a:ext cx="1325880" cy="164592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最終確認・テスト・公開</a:t>
            </a:r>
            <a:endParaRPr lang="en-US" sz="1000" dirty="0"/>
          </a:p>
        </p:txBody>
      </p:sp>
      <p:sp>
        <p:nvSpPr>
          <p:cNvPr id="28" name="Text 26"/>
          <p:cNvSpPr/>
          <p:nvPr/>
        </p:nvSpPr>
        <p:spPr>
          <a:xfrm>
            <a:off x="457200" y="4663440"/>
            <a:ext cx="8229600" cy="36576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初期段階での方向性のすり合わせを丁寧に行い、ブランドらしさと実用性を両立したサイトへ仕上げていきます。</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3A5F"/>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2E86AB"/>
          </a:solidFill>
          <a:ln w="12700">
            <a:solidFill>
              <a:srgbClr val="2E86AB"/>
            </a:solidFill>
            <a:prstDash val="solid"/>
          </a:ln>
        </p:spPr>
      </p:sp>
      <p:sp>
        <p:nvSpPr>
          <p:cNvPr id="3" name="Text 1"/>
          <p:cNvSpPr/>
          <p:nvPr/>
        </p:nvSpPr>
        <p:spPr>
          <a:xfrm>
            <a:off x="594360" y="548640"/>
            <a:ext cx="8229600" cy="457200"/>
          </a:xfrm>
          <a:prstGeom prst="rect">
            <a:avLst/>
          </a:prstGeom>
          <a:noFill/>
          <a:ln/>
        </p:spPr>
        <p:txBody>
          <a:bodyPr wrap="square" lIns="0" tIns="0" rIns="0" bIns="0" rtlCol="0" anchor="ctr"/>
          <a:lstStyle/>
          <a:p>
            <a:pPr algn="l" indent="0" marL="0">
              <a:buNone/>
            </a:pPr>
            <a:r>
              <a:rPr lang="en-US" sz="1600" dirty="0">
                <a:solidFill>
                  <a:srgbClr val="A8C4D8"/>
                </a:solidFill>
                <a:latin typeface="Calibri" pitchFamily="34" charset="0"/>
                <a:ea typeface="Calibri" pitchFamily="34" charset="-122"/>
                <a:cs typeface="Calibri" pitchFamily="34" charset="-120"/>
              </a:rPr>
              <a:t>ご提案まとめ</a:t>
            </a:r>
            <a:endParaRPr lang="en-US" sz="1600" dirty="0"/>
          </a:p>
        </p:txBody>
      </p:sp>
      <p:sp>
        <p:nvSpPr>
          <p:cNvPr id="4" name="Text 2"/>
          <p:cNvSpPr/>
          <p:nvPr/>
        </p:nvSpPr>
        <p:spPr>
          <a:xfrm>
            <a:off x="594360" y="1097280"/>
            <a:ext cx="8229600" cy="1188720"/>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世界観が伝わり、</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安心して訪れたくなる入口へ。</a:t>
            </a:r>
            <a:endParaRPr lang="en-US" sz="2800" dirty="0"/>
          </a:p>
        </p:txBody>
      </p:sp>
      <p:sp>
        <p:nvSpPr>
          <p:cNvPr id="5" name="Shape 3"/>
          <p:cNvSpPr/>
          <p:nvPr/>
        </p:nvSpPr>
        <p:spPr>
          <a:xfrm>
            <a:off x="594360" y="2468880"/>
            <a:ext cx="7772400" cy="27432"/>
          </a:xfrm>
          <a:prstGeom prst="rect">
            <a:avLst/>
          </a:prstGeom>
          <a:solidFill>
            <a:srgbClr val="2E86AB"/>
          </a:solidFill>
          <a:ln w="12700">
            <a:solidFill>
              <a:srgbClr val="2E86AB"/>
            </a:solidFill>
            <a:prstDash val="solid"/>
          </a:ln>
        </p:spPr>
      </p:sp>
      <p:sp>
        <p:nvSpPr>
          <p:cNvPr id="6" name="Text 4"/>
          <p:cNvSpPr/>
          <p:nvPr/>
        </p:nvSpPr>
        <p:spPr>
          <a:xfrm>
            <a:off x="594360" y="2606040"/>
            <a:ext cx="8138160" cy="1371600"/>
          </a:xfrm>
          <a:prstGeom prst="rect">
            <a:avLst/>
          </a:prstGeom>
          <a:noFill/>
          <a:ln/>
        </p:spPr>
        <p:txBody>
          <a:bodyPr wrap="square" rtlCol="0" anchor="ctr"/>
          <a:lstStyle/>
          <a:p>
            <a:pPr algn="l" indent="0" marL="0">
              <a:buNone/>
            </a:pPr>
            <a:r>
              <a:rPr lang="en-US" sz="1300" dirty="0">
                <a:solidFill>
                  <a:srgbClr val="C8DCE8"/>
                </a:solidFill>
                <a:latin typeface="Calibri" pitchFamily="34" charset="0"/>
                <a:ea typeface="Calibri" pitchFamily="34" charset="-122"/>
                <a:cs typeface="Calibri" pitchFamily="34" charset="-120"/>
              </a:rPr>
              <a:t>しっぽカフェ ひるね日和の魅力は、ただ「かわいい」だけでなく、訪れる人の心をゆるめる力にあります。</a:t>
            </a:r>
            <a:endParaRPr lang="en-US" sz="1300" dirty="0"/>
          </a:p>
          <a:p>
            <a:pPr algn="l" indent="0" marL="0">
              <a:buNone/>
            </a:pPr>
            <a:r>
              <a:rPr lang="en-US" sz="1300" dirty="0">
                <a:solidFill>
                  <a:srgbClr val="C8DCE8"/>
                </a:solidFill>
                <a:latin typeface="Calibri" pitchFamily="34" charset="0"/>
                <a:ea typeface="Calibri" pitchFamily="34" charset="-122"/>
                <a:cs typeface="Calibri" pitchFamily="34" charset="-120"/>
              </a:rPr>
              <a:t>その価値をWeb上でも感じられるよう設計することで、来店前からブランド体験を始められるサイトをつくります。</a:t>
            </a:r>
            <a:endParaRPr lang="en-US" sz="1300" dirty="0"/>
          </a:p>
        </p:txBody>
      </p:sp>
      <p:sp>
        <p:nvSpPr>
          <p:cNvPr id="7" name="Text 5"/>
          <p:cNvSpPr/>
          <p:nvPr/>
        </p:nvSpPr>
        <p:spPr>
          <a:xfrm>
            <a:off x="594360" y="4206240"/>
            <a:ext cx="8229600" cy="365760"/>
          </a:xfrm>
          <a:prstGeom prst="rect">
            <a:avLst/>
          </a:prstGeom>
          <a:noFill/>
          <a:ln/>
        </p:spPr>
        <p:txBody>
          <a:bodyPr wrap="square" lIns="0" tIns="0" rIns="0" bIns="0" rtlCol="0" anchor="ctr"/>
          <a:lstStyle/>
          <a:p>
            <a:pPr algn="l" indent="0" marL="0">
              <a:buNone/>
            </a:pPr>
            <a:r>
              <a:rPr lang="en-US" sz="1300" dirty="0">
                <a:solidFill>
                  <a:srgbClr val="6A9DB8"/>
                </a:solidFill>
                <a:latin typeface="Calibri" pitchFamily="34" charset="0"/>
                <a:ea typeface="Calibri" pitchFamily="34" charset="-122"/>
                <a:cs typeface="Calibri" pitchFamily="34" charset="-120"/>
              </a:rPr>
              <a:t>ご清覧ありがとうございました。</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しっぽカフェ ひるね日和 Webサイトご提案</dc:title>
  <dc:subject>PptxGenJS Presentation</dc:subject>
  <dc:creator>PptxGenJS</dc:creator>
  <cp:lastModifiedBy>PptxGenJS</cp:lastModifiedBy>
  <cp:revision>1</cp:revision>
  <dcterms:created xsi:type="dcterms:W3CDTF">2026-05-03T10:44:28Z</dcterms:created>
  <dcterms:modified xsi:type="dcterms:W3CDTF">2026-05-03T10:44:28Z</dcterms:modified>
</cp:coreProperties>
</file>